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charset="1" panose="00000500000000000000"/>
      <p:regular r:id="rId14"/>
    </p:embeddedFont>
    <p:embeddedFont>
      <p:font typeface="Open Sans Bold" charset="1" panose="020B0806030504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008946" y="0"/>
            <a:ext cx="9824085" cy="10287000"/>
          </a:xfrm>
          <a:custGeom>
            <a:avLst/>
            <a:gdLst/>
            <a:ahLst/>
            <a:cxnLst/>
            <a:rect r="r" b="b" t="t" l="l"/>
            <a:pathLst>
              <a:path h="10287000" w="9824085">
                <a:moveTo>
                  <a:pt x="0" y="0"/>
                </a:moveTo>
                <a:lnTo>
                  <a:pt x="9824085" y="0"/>
                </a:lnTo>
                <a:lnTo>
                  <a:pt x="9824085"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3916394" y="-2910458"/>
            <a:ext cx="4466085" cy="10287000"/>
          </a:xfrm>
          <a:custGeom>
            <a:avLst/>
            <a:gdLst/>
            <a:ahLst/>
            <a:cxnLst/>
            <a:rect r="r" b="b" t="t" l="l"/>
            <a:pathLst>
              <a:path h="10287000" w="4466085">
                <a:moveTo>
                  <a:pt x="0" y="0"/>
                </a:moveTo>
                <a:lnTo>
                  <a:pt x="4466085" y="0"/>
                </a:lnTo>
                <a:lnTo>
                  <a:pt x="4466085"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119970" t="0" r="0" b="0"/>
            </a:stretch>
          </a:blipFill>
        </p:spPr>
      </p:sp>
      <p:grpSp>
        <p:nvGrpSpPr>
          <p:cNvPr name="Group 4" id="4"/>
          <p:cNvGrpSpPr/>
          <p:nvPr/>
        </p:nvGrpSpPr>
        <p:grpSpPr>
          <a:xfrm rot="0">
            <a:off x="1028700" y="1832595"/>
            <a:ext cx="9572486" cy="4350261"/>
            <a:chOff x="0" y="0"/>
            <a:chExt cx="12763315" cy="5800348"/>
          </a:xfrm>
        </p:grpSpPr>
        <p:sp>
          <p:nvSpPr>
            <p:cNvPr name="TextBox 5" id="5"/>
            <p:cNvSpPr txBox="true"/>
            <p:nvPr/>
          </p:nvSpPr>
          <p:spPr>
            <a:xfrm rot="0">
              <a:off x="0" y="95250"/>
              <a:ext cx="12563372" cy="3883077"/>
            </a:xfrm>
            <a:prstGeom prst="rect">
              <a:avLst/>
            </a:prstGeom>
          </p:spPr>
          <p:txBody>
            <a:bodyPr anchor="t" rtlCol="false" tIns="0" lIns="0" bIns="0" rIns="0">
              <a:spAutoFit/>
            </a:bodyPr>
            <a:lstStyle/>
            <a:p>
              <a:pPr algn="l">
                <a:lnSpc>
                  <a:spcPts val="10707"/>
                </a:lnSpc>
              </a:pPr>
              <a:r>
                <a:rPr lang="en-US" sz="10707" spc="-214" b="true">
                  <a:solidFill>
                    <a:srgbClr val="F8F8F8"/>
                  </a:solidFill>
                  <a:latin typeface="Poppins Bold"/>
                  <a:ea typeface="Poppins Bold"/>
                  <a:cs typeface="Poppins Bold"/>
                  <a:sym typeface="Poppins Bold"/>
                </a:rPr>
                <a:t>Chat bot de soporte</a:t>
              </a:r>
            </a:p>
          </p:txBody>
        </p:sp>
        <p:sp>
          <p:nvSpPr>
            <p:cNvPr name="TextBox 6" id="6"/>
            <p:cNvSpPr txBox="true"/>
            <p:nvPr/>
          </p:nvSpPr>
          <p:spPr>
            <a:xfrm rot="0">
              <a:off x="0" y="4348424"/>
              <a:ext cx="12763315" cy="1451924"/>
            </a:xfrm>
            <a:prstGeom prst="rect">
              <a:avLst/>
            </a:prstGeom>
          </p:spPr>
          <p:txBody>
            <a:bodyPr anchor="t" rtlCol="false" tIns="0" lIns="0" bIns="0" rIns="0">
              <a:spAutoFit/>
            </a:bodyPr>
            <a:lstStyle/>
            <a:p>
              <a:pPr algn="l">
                <a:lnSpc>
                  <a:spcPts val="7557"/>
                </a:lnSpc>
              </a:pPr>
              <a:r>
                <a:rPr lang="en-US" sz="7557" spc="-151">
                  <a:solidFill>
                    <a:srgbClr val="1578C4"/>
                  </a:solidFill>
                  <a:latin typeface="Poppins"/>
                  <a:ea typeface="Poppins"/>
                  <a:cs typeface="Poppins"/>
                  <a:sym typeface="Poppins"/>
                </a:rPr>
                <a:t>Propuesta Capstone</a:t>
              </a:r>
            </a:p>
          </p:txBody>
        </p:sp>
      </p:grpSp>
      <p:sp>
        <p:nvSpPr>
          <p:cNvPr name="TextBox 7" id="7"/>
          <p:cNvSpPr txBox="true"/>
          <p:nvPr/>
        </p:nvSpPr>
        <p:spPr>
          <a:xfrm rot="0">
            <a:off x="1028700" y="6470451"/>
            <a:ext cx="8586184" cy="811149"/>
          </a:xfrm>
          <a:prstGeom prst="rect">
            <a:avLst/>
          </a:prstGeom>
        </p:spPr>
        <p:txBody>
          <a:bodyPr anchor="t" rtlCol="false" tIns="0" lIns="0" bIns="0" rIns="0">
            <a:spAutoFit/>
          </a:bodyPr>
          <a:lstStyle/>
          <a:p>
            <a:pPr algn="l">
              <a:lnSpc>
                <a:spcPts val="3168"/>
              </a:lnSpc>
            </a:pPr>
            <a:r>
              <a:rPr lang="en-US" sz="2400">
                <a:solidFill>
                  <a:srgbClr val="FFFFFF"/>
                </a:solidFill>
                <a:latin typeface="Poppins"/>
                <a:ea typeface="Poppins"/>
                <a:cs typeface="Poppins"/>
                <a:sym typeface="Poppins"/>
              </a:rPr>
              <a:t>Desarrollo de Bot conversacional de soporte conectado a una ticketera para varias SaaS.</a:t>
            </a:r>
          </a:p>
        </p:txBody>
      </p:sp>
      <p:sp>
        <p:nvSpPr>
          <p:cNvPr name="TextBox 8" id="8"/>
          <p:cNvSpPr txBox="true"/>
          <p:nvPr/>
        </p:nvSpPr>
        <p:spPr>
          <a:xfrm rot="0">
            <a:off x="1028700" y="1000125"/>
            <a:ext cx="4538272" cy="347292"/>
          </a:xfrm>
          <a:prstGeom prst="rect">
            <a:avLst/>
          </a:prstGeom>
        </p:spPr>
        <p:txBody>
          <a:bodyPr anchor="t" rtlCol="false" tIns="0" lIns="0" bIns="0" rIns="0">
            <a:spAutoFit/>
          </a:bodyPr>
          <a:lstStyle/>
          <a:p>
            <a:pPr algn="l">
              <a:lnSpc>
                <a:spcPts val="2657"/>
              </a:lnSpc>
            </a:pPr>
            <a:r>
              <a:rPr lang="en-US" sz="2108" spc="-42">
                <a:solidFill>
                  <a:srgbClr val="FFFFFF"/>
                </a:solidFill>
                <a:latin typeface="Poppins"/>
                <a:ea typeface="Poppins"/>
                <a:cs typeface="Poppins"/>
                <a:sym typeface="Poppins"/>
              </a:rPr>
              <a:t>Fecha: 18 de agosto 2026</a:t>
            </a:r>
          </a:p>
        </p:txBody>
      </p:sp>
      <p:sp>
        <p:nvSpPr>
          <p:cNvPr name="TextBox 9" id="9"/>
          <p:cNvSpPr txBox="true"/>
          <p:nvPr/>
        </p:nvSpPr>
        <p:spPr>
          <a:xfrm rot="0">
            <a:off x="1028700" y="7738800"/>
            <a:ext cx="9422529" cy="1351652"/>
          </a:xfrm>
          <a:prstGeom prst="rect">
            <a:avLst/>
          </a:prstGeom>
        </p:spPr>
        <p:txBody>
          <a:bodyPr anchor="t" rtlCol="false" tIns="0" lIns="0" bIns="0" rIns="0">
            <a:spAutoFit/>
          </a:bodyPr>
          <a:lstStyle/>
          <a:p>
            <a:pPr algn="l">
              <a:lnSpc>
                <a:spcPts val="2657"/>
              </a:lnSpc>
            </a:pPr>
            <a:r>
              <a:rPr lang="en-US" sz="2108" spc="-42">
                <a:solidFill>
                  <a:srgbClr val="FFFFFF"/>
                </a:solidFill>
                <a:latin typeface="Poppins"/>
                <a:ea typeface="Poppins"/>
                <a:cs typeface="Poppins"/>
                <a:sym typeface="Poppins"/>
              </a:rPr>
              <a:t>Responsable: </a:t>
            </a:r>
          </a:p>
          <a:p>
            <a:pPr algn="l" marL="455310" indent="-227655" lvl="1">
              <a:lnSpc>
                <a:spcPts val="2657"/>
              </a:lnSpc>
              <a:buFont typeface="Arial"/>
              <a:buChar char="•"/>
            </a:pPr>
            <a:r>
              <a:rPr lang="en-US" sz="2108" spc="-42">
                <a:solidFill>
                  <a:srgbClr val="FFFFFF"/>
                </a:solidFill>
                <a:latin typeface="Poppins"/>
                <a:ea typeface="Poppins"/>
                <a:cs typeface="Poppins"/>
                <a:sym typeface="Poppins"/>
              </a:rPr>
              <a:t>Andres Calderon</a:t>
            </a:r>
          </a:p>
          <a:p>
            <a:pPr algn="l" marL="455310" indent="-227655" lvl="1">
              <a:lnSpc>
                <a:spcPts val="2657"/>
              </a:lnSpc>
              <a:buFont typeface="Arial"/>
              <a:buChar char="•"/>
            </a:pPr>
            <a:r>
              <a:rPr lang="en-US" sz="2108" spc="-42">
                <a:solidFill>
                  <a:srgbClr val="FFFFFF"/>
                </a:solidFill>
                <a:latin typeface="Poppins"/>
                <a:ea typeface="Poppins"/>
                <a:cs typeface="Poppins"/>
                <a:sym typeface="Poppins"/>
              </a:rPr>
              <a:t>Matias Maldonado</a:t>
            </a:r>
          </a:p>
          <a:p>
            <a:pPr algn="l" marL="455310" indent="-227655" lvl="1">
              <a:lnSpc>
                <a:spcPts val="2657"/>
              </a:lnSpc>
              <a:buFont typeface="Arial"/>
              <a:buChar char="•"/>
            </a:pPr>
            <a:r>
              <a:rPr lang="en-US" sz="2108" spc="-42">
                <a:solidFill>
                  <a:srgbClr val="FFFFFF"/>
                </a:solidFill>
                <a:latin typeface="Poppins"/>
                <a:ea typeface="Poppins"/>
                <a:cs typeface="Poppins"/>
                <a:sym typeface="Poppins"/>
              </a:rPr>
              <a:t>Jeremias Alfaro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1104900"/>
            <a:ext cx="5163675" cy="1873971"/>
          </a:xfrm>
          <a:prstGeom prst="rect">
            <a:avLst/>
          </a:prstGeom>
        </p:spPr>
        <p:txBody>
          <a:bodyPr anchor="t" rtlCol="false" tIns="0" lIns="0" bIns="0" rIns="0">
            <a:spAutoFit/>
          </a:bodyPr>
          <a:lstStyle/>
          <a:p>
            <a:pPr algn="l">
              <a:lnSpc>
                <a:spcPts val="6998"/>
              </a:lnSpc>
            </a:pPr>
            <a:r>
              <a:rPr lang="en-US" sz="6998" spc="-139" b="true">
                <a:solidFill>
                  <a:srgbClr val="F8F8F8"/>
                </a:solidFill>
                <a:latin typeface="Poppins Bold"/>
                <a:ea typeface="Poppins Bold"/>
                <a:cs typeface="Poppins Bold"/>
                <a:sym typeface="Poppins Bold"/>
              </a:rPr>
              <a:t>Resumen ejecutivo</a:t>
            </a:r>
          </a:p>
        </p:txBody>
      </p:sp>
      <p:sp>
        <p:nvSpPr>
          <p:cNvPr name="Freeform 3" id="3"/>
          <p:cNvSpPr/>
          <p:nvPr/>
        </p:nvSpPr>
        <p:spPr>
          <a:xfrm flipH="false" flipV="false" rot="0">
            <a:off x="0" y="3778732"/>
            <a:ext cx="5789647" cy="6508268"/>
          </a:xfrm>
          <a:custGeom>
            <a:avLst/>
            <a:gdLst/>
            <a:ahLst/>
            <a:cxnLst/>
            <a:rect r="r" b="b" t="t" l="l"/>
            <a:pathLst>
              <a:path h="6508268" w="5789647">
                <a:moveTo>
                  <a:pt x="0" y="0"/>
                </a:moveTo>
                <a:lnTo>
                  <a:pt x="5789647" y="0"/>
                </a:lnTo>
                <a:lnTo>
                  <a:pt x="5789647" y="6508268"/>
                </a:lnTo>
                <a:lnTo>
                  <a:pt x="0" y="6508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7566391" y="1129061"/>
            <a:ext cx="9458732" cy="640080"/>
            <a:chOff x="0" y="0"/>
            <a:chExt cx="12611643" cy="853440"/>
          </a:xfrm>
        </p:grpSpPr>
        <p:sp>
          <p:nvSpPr>
            <p:cNvPr name="TextBox 5" id="5"/>
            <p:cNvSpPr txBox="true"/>
            <p:nvPr/>
          </p:nvSpPr>
          <p:spPr>
            <a:xfrm rot="0">
              <a:off x="4604524" y="38100"/>
              <a:ext cx="8007119" cy="815340"/>
            </a:xfrm>
            <a:prstGeom prst="rect">
              <a:avLst/>
            </a:prstGeom>
          </p:spPr>
          <p:txBody>
            <a:bodyPr anchor="t" rtlCol="false" tIns="0" lIns="0" bIns="0" rIns="0">
              <a:spAutoFit/>
            </a:bodyPr>
            <a:lstStyle/>
            <a:p>
              <a:pPr algn="l">
                <a:lnSpc>
                  <a:spcPts val="4200"/>
                </a:lnSpc>
              </a:pPr>
              <a:r>
                <a:rPr lang="en-US" sz="4200" spc="-84">
                  <a:solidFill>
                    <a:srgbClr val="FFFFFF"/>
                  </a:solidFill>
                  <a:latin typeface="Poppins"/>
                  <a:ea typeface="Poppins"/>
                  <a:cs typeface="Poppins"/>
                  <a:sym typeface="Poppins"/>
                </a:rPr>
                <a:t>Chat bot de soporte</a:t>
              </a:r>
            </a:p>
          </p:txBody>
        </p:sp>
        <p:sp>
          <p:nvSpPr>
            <p:cNvPr name="TextBox 6" id="6"/>
            <p:cNvSpPr txBox="true"/>
            <p:nvPr/>
          </p:nvSpPr>
          <p:spPr>
            <a:xfrm rot="0">
              <a:off x="0" y="38100"/>
              <a:ext cx="4379312" cy="815340"/>
            </a:xfrm>
            <a:prstGeom prst="rect">
              <a:avLst/>
            </a:prstGeom>
          </p:spPr>
          <p:txBody>
            <a:bodyPr anchor="t" rtlCol="false" tIns="0" lIns="0" bIns="0" rIns="0">
              <a:spAutoFit/>
            </a:bodyPr>
            <a:lstStyle/>
            <a:p>
              <a:pPr algn="l">
                <a:lnSpc>
                  <a:spcPts val="4200"/>
                </a:lnSpc>
              </a:pPr>
              <a:r>
                <a:rPr lang="en-US" sz="4200" spc="-84">
                  <a:solidFill>
                    <a:srgbClr val="1578C4"/>
                  </a:solidFill>
                  <a:latin typeface="Poppins"/>
                  <a:ea typeface="Poppins"/>
                  <a:cs typeface="Poppins"/>
                  <a:sym typeface="Poppins"/>
                </a:rPr>
                <a:t>Nombre:</a:t>
              </a:r>
            </a:p>
          </p:txBody>
        </p:sp>
      </p:grpSp>
      <p:sp>
        <p:nvSpPr>
          <p:cNvPr name="TextBox 7" id="7"/>
          <p:cNvSpPr txBox="true"/>
          <p:nvPr/>
        </p:nvSpPr>
        <p:spPr>
          <a:xfrm rot="0">
            <a:off x="11019784" y="2940744"/>
            <a:ext cx="6005339" cy="400812"/>
          </a:xfrm>
          <a:prstGeom prst="rect">
            <a:avLst/>
          </a:prstGeom>
        </p:spPr>
        <p:txBody>
          <a:bodyPr anchor="t" rtlCol="false" tIns="0" lIns="0" bIns="0" rIns="0">
            <a:spAutoFit/>
          </a:bodyPr>
          <a:lstStyle/>
          <a:p>
            <a:pPr algn="l" marL="0" indent="0" lvl="0">
              <a:lnSpc>
                <a:spcPts val="3024"/>
              </a:lnSpc>
              <a:spcBef>
                <a:spcPct val="0"/>
              </a:spcBef>
            </a:pPr>
            <a:r>
              <a:rPr lang="en-US" sz="2400" spc="-48" strike="noStrike" u="none">
                <a:solidFill>
                  <a:srgbClr val="FFFFFF"/>
                </a:solidFill>
                <a:latin typeface="Poppins"/>
                <a:ea typeface="Poppins"/>
                <a:cs typeface="Poppins"/>
                <a:sym typeface="Poppins"/>
              </a:rPr>
              <a:t>12  a 14 semanas de desarrollo</a:t>
            </a:r>
          </a:p>
        </p:txBody>
      </p:sp>
      <p:sp>
        <p:nvSpPr>
          <p:cNvPr name="TextBox 8" id="8"/>
          <p:cNvSpPr txBox="true"/>
          <p:nvPr/>
        </p:nvSpPr>
        <p:spPr>
          <a:xfrm rot="0">
            <a:off x="7566391" y="2950296"/>
            <a:ext cx="2665588" cy="759333"/>
          </a:xfrm>
          <a:prstGeom prst="rect">
            <a:avLst/>
          </a:prstGeom>
        </p:spPr>
        <p:txBody>
          <a:bodyPr anchor="t" rtlCol="false" tIns="0" lIns="0" bIns="0" rIns="0">
            <a:spAutoFit/>
          </a:bodyPr>
          <a:lstStyle/>
          <a:p>
            <a:pPr algn="l" marL="0" indent="0" lvl="0">
              <a:lnSpc>
                <a:spcPts val="2976"/>
              </a:lnSpc>
            </a:pPr>
            <a:r>
              <a:rPr lang="en-US" b="true" sz="2400" spc="-48" strike="noStrike" u="none">
                <a:solidFill>
                  <a:srgbClr val="1578C4"/>
                </a:solidFill>
                <a:latin typeface="Poppins Bold"/>
                <a:ea typeface="Poppins Bold"/>
                <a:cs typeface="Poppins Bold"/>
                <a:sym typeface="Poppins Bold"/>
              </a:rPr>
              <a:t>Duración estimada:</a:t>
            </a:r>
          </a:p>
        </p:txBody>
      </p:sp>
      <p:sp>
        <p:nvSpPr>
          <p:cNvPr name="TextBox 9" id="9"/>
          <p:cNvSpPr txBox="true"/>
          <p:nvPr/>
        </p:nvSpPr>
        <p:spPr>
          <a:xfrm rot="0">
            <a:off x="11019784" y="4125596"/>
            <a:ext cx="6005339" cy="2686812"/>
          </a:xfrm>
          <a:prstGeom prst="rect">
            <a:avLst/>
          </a:prstGeom>
        </p:spPr>
        <p:txBody>
          <a:bodyPr anchor="t" rtlCol="false" tIns="0" lIns="0" bIns="0" rIns="0">
            <a:spAutoFit/>
          </a:bodyPr>
          <a:lstStyle/>
          <a:p>
            <a:pPr algn="l">
              <a:lnSpc>
                <a:spcPts val="3024"/>
              </a:lnSpc>
            </a:pPr>
            <a:r>
              <a:rPr lang="en-US" sz="2400" spc="-48">
                <a:solidFill>
                  <a:srgbClr val="FFFFFF"/>
                </a:solidFill>
                <a:latin typeface="Poppins"/>
                <a:ea typeface="Poppins"/>
                <a:cs typeface="Poppins"/>
                <a:sym typeface="Poppins"/>
              </a:rPr>
              <a:t>Desarrollo de un Bot conversacional para varias plataformas SaaS, cada plataforma tendra un bot individual, el proyecto tambien contempla una ticketera generica donde llegaran todos los tickets que el bot no pudo responder o el usuario derivo a un recurso humano.</a:t>
            </a:r>
          </a:p>
        </p:txBody>
      </p:sp>
      <p:sp>
        <p:nvSpPr>
          <p:cNvPr name="TextBox 10" id="10"/>
          <p:cNvSpPr txBox="true"/>
          <p:nvPr/>
        </p:nvSpPr>
        <p:spPr>
          <a:xfrm rot="0">
            <a:off x="7566391" y="4135121"/>
            <a:ext cx="2665588" cy="759333"/>
          </a:xfrm>
          <a:prstGeom prst="rect">
            <a:avLst/>
          </a:prstGeom>
        </p:spPr>
        <p:txBody>
          <a:bodyPr anchor="t" rtlCol="false" tIns="0" lIns="0" bIns="0" rIns="0">
            <a:spAutoFit/>
          </a:bodyPr>
          <a:lstStyle/>
          <a:p>
            <a:pPr algn="l">
              <a:lnSpc>
                <a:spcPts val="2976"/>
              </a:lnSpc>
            </a:pPr>
            <a:r>
              <a:rPr lang="en-US" sz="2400" spc="-48" b="true">
                <a:solidFill>
                  <a:srgbClr val="1578C4"/>
                </a:solidFill>
                <a:latin typeface="Poppins Bold"/>
                <a:ea typeface="Poppins Bold"/>
                <a:cs typeface="Poppins Bold"/>
                <a:sym typeface="Poppins Bold"/>
              </a:rPr>
              <a:t>Descripción breve:</a:t>
            </a:r>
          </a:p>
        </p:txBody>
      </p:sp>
      <p:sp>
        <p:nvSpPr>
          <p:cNvPr name="AutoShape 11" id="11"/>
          <p:cNvSpPr/>
          <p:nvPr/>
        </p:nvSpPr>
        <p:spPr>
          <a:xfrm>
            <a:off x="7566391" y="2374006"/>
            <a:ext cx="11215057" cy="0"/>
          </a:xfrm>
          <a:prstGeom prst="line">
            <a:avLst/>
          </a:prstGeom>
          <a:ln cap="flat" w="28575">
            <a:solidFill>
              <a:srgbClr val="FFFFFF"/>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2856579"/>
            <a:ext cx="7070543" cy="784860"/>
          </a:xfrm>
          <a:prstGeom prst="rect">
            <a:avLst/>
          </a:prstGeom>
        </p:spPr>
        <p:txBody>
          <a:bodyPr anchor="t" rtlCol="false" tIns="0" lIns="0" bIns="0" rIns="0">
            <a:spAutoFit/>
          </a:bodyPr>
          <a:lstStyle/>
          <a:p>
            <a:pPr algn="l">
              <a:lnSpc>
                <a:spcPts val="5400"/>
              </a:lnSpc>
            </a:pPr>
            <a:r>
              <a:rPr lang="en-US" sz="5400" spc="-108" b="true">
                <a:solidFill>
                  <a:srgbClr val="F8F8F8"/>
                </a:solidFill>
                <a:latin typeface="Poppins Bold"/>
                <a:ea typeface="Poppins Bold"/>
                <a:cs typeface="Poppins Bold"/>
                <a:sym typeface="Poppins Bold"/>
              </a:rPr>
              <a:t>Situación actual</a:t>
            </a:r>
          </a:p>
        </p:txBody>
      </p:sp>
      <p:sp>
        <p:nvSpPr>
          <p:cNvPr name="AutoShape 3" id="3"/>
          <p:cNvSpPr/>
          <p:nvPr/>
        </p:nvSpPr>
        <p:spPr>
          <a:xfrm>
            <a:off x="7326169" y="3229959"/>
            <a:ext cx="2862589" cy="0"/>
          </a:xfrm>
          <a:prstGeom prst="line">
            <a:avLst/>
          </a:prstGeom>
          <a:ln cap="flat" w="95250">
            <a:solidFill>
              <a:srgbClr val="FFFFFF"/>
            </a:solidFill>
            <a:prstDash val="solid"/>
            <a:headEnd type="none" len="sm" w="sm"/>
            <a:tailEnd type="arrow" len="sm" w="med"/>
          </a:ln>
        </p:spPr>
      </p:sp>
      <p:sp>
        <p:nvSpPr>
          <p:cNvPr name="Freeform 4" id="4"/>
          <p:cNvSpPr/>
          <p:nvPr/>
        </p:nvSpPr>
        <p:spPr>
          <a:xfrm flipH="false" flipV="false" rot="7091199">
            <a:off x="-269160" y="-2877784"/>
            <a:ext cx="3362867" cy="6508268"/>
          </a:xfrm>
          <a:custGeom>
            <a:avLst/>
            <a:gdLst/>
            <a:ahLst/>
            <a:cxnLst/>
            <a:rect r="r" b="b" t="t" l="l"/>
            <a:pathLst>
              <a:path h="6508268" w="3362867">
                <a:moveTo>
                  <a:pt x="0" y="0"/>
                </a:moveTo>
                <a:lnTo>
                  <a:pt x="3362867" y="0"/>
                </a:lnTo>
                <a:lnTo>
                  <a:pt x="3362867" y="6508269"/>
                </a:lnTo>
                <a:lnTo>
                  <a:pt x="0" y="6508269"/>
                </a:lnTo>
                <a:lnTo>
                  <a:pt x="0" y="0"/>
                </a:lnTo>
                <a:close/>
              </a:path>
            </a:pathLst>
          </a:custGeom>
          <a:blipFill>
            <a:blip r:embed="rId2">
              <a:extLst>
                <a:ext uri="{96DAC541-7B7A-43D3-8B79-37D633B846F1}">
                  <asvg:svgBlip xmlns:asvg="http://schemas.microsoft.com/office/drawing/2016/SVG/main" r:embed="rId3"/>
                </a:ext>
              </a:extLst>
            </a:blip>
            <a:stretch>
              <a:fillRect l="0" t="0" r="-72244" b="0"/>
            </a:stretch>
          </a:blipFill>
        </p:spPr>
      </p:sp>
      <p:sp>
        <p:nvSpPr>
          <p:cNvPr name="TextBox 5" id="5"/>
          <p:cNvSpPr txBox="true"/>
          <p:nvPr/>
        </p:nvSpPr>
        <p:spPr>
          <a:xfrm rot="0">
            <a:off x="10774199" y="2856579"/>
            <a:ext cx="6485101" cy="784860"/>
          </a:xfrm>
          <a:prstGeom prst="rect">
            <a:avLst/>
          </a:prstGeom>
        </p:spPr>
        <p:txBody>
          <a:bodyPr anchor="t" rtlCol="false" tIns="0" lIns="0" bIns="0" rIns="0">
            <a:spAutoFit/>
          </a:bodyPr>
          <a:lstStyle/>
          <a:p>
            <a:pPr algn="l">
              <a:lnSpc>
                <a:spcPts val="5400"/>
              </a:lnSpc>
            </a:pPr>
            <a:r>
              <a:rPr lang="en-US" sz="5400" spc="-108" b="true">
                <a:solidFill>
                  <a:srgbClr val="F8F8F8"/>
                </a:solidFill>
                <a:latin typeface="Poppins Bold"/>
                <a:ea typeface="Poppins Bold"/>
                <a:cs typeface="Poppins Bold"/>
                <a:sym typeface="Poppins Bold"/>
              </a:rPr>
              <a:t>Oportunidad</a:t>
            </a:r>
          </a:p>
        </p:txBody>
      </p:sp>
      <p:sp>
        <p:nvSpPr>
          <p:cNvPr name="TextBox 6" id="6"/>
          <p:cNvSpPr txBox="true"/>
          <p:nvPr/>
        </p:nvSpPr>
        <p:spPr>
          <a:xfrm rot="0">
            <a:off x="1028700" y="4278838"/>
            <a:ext cx="6447828" cy="1760220"/>
          </a:xfrm>
          <a:prstGeom prst="rect">
            <a:avLst/>
          </a:prstGeom>
        </p:spPr>
        <p:txBody>
          <a:bodyPr anchor="t" rtlCol="false" tIns="0" lIns="0" bIns="0" rIns="0">
            <a:spAutoFit/>
          </a:bodyPr>
          <a:lstStyle/>
          <a:p>
            <a:pPr algn="l">
              <a:lnSpc>
                <a:spcPts val="3510"/>
              </a:lnSpc>
            </a:pPr>
            <a:r>
              <a:rPr lang="en-US" sz="2600" spc="-52">
                <a:solidFill>
                  <a:srgbClr val="F8F8F8"/>
                </a:solidFill>
                <a:latin typeface="Poppins"/>
                <a:ea typeface="Poppins"/>
                <a:cs typeface="Poppins"/>
                <a:sym typeface="Poppins"/>
              </a:rPr>
              <a:t>Productos SaaS atienden consultas y problemas de usuarios de manera individual por producto, esto conlleva a grandes costos y no es escalable.</a:t>
            </a:r>
          </a:p>
        </p:txBody>
      </p:sp>
      <p:sp>
        <p:nvSpPr>
          <p:cNvPr name="TextBox 7" id="7"/>
          <p:cNvSpPr txBox="true"/>
          <p:nvPr/>
        </p:nvSpPr>
        <p:spPr>
          <a:xfrm rot="0">
            <a:off x="10774199" y="4278838"/>
            <a:ext cx="6447828" cy="883920"/>
          </a:xfrm>
          <a:prstGeom prst="rect">
            <a:avLst/>
          </a:prstGeom>
        </p:spPr>
        <p:txBody>
          <a:bodyPr anchor="t" rtlCol="false" tIns="0" lIns="0" bIns="0" rIns="0">
            <a:spAutoFit/>
          </a:bodyPr>
          <a:lstStyle/>
          <a:p>
            <a:pPr algn="l">
              <a:lnSpc>
                <a:spcPts val="3510"/>
              </a:lnSpc>
            </a:pPr>
            <a:r>
              <a:rPr lang="en-US" sz="2600" spc="-52">
                <a:solidFill>
                  <a:srgbClr val="F8F8F8"/>
                </a:solidFill>
                <a:latin typeface="Poppins"/>
                <a:ea typeface="Poppins"/>
                <a:cs typeface="Poppins"/>
                <a:sym typeface="Poppins"/>
              </a:rPr>
              <a:t>Primera linea de atencion automatizada y compartida.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738168" y="3935705"/>
            <a:ext cx="7217647" cy="4954027"/>
            <a:chOff x="0" y="0"/>
            <a:chExt cx="1900944" cy="1304764"/>
          </a:xfrm>
        </p:grpSpPr>
        <p:sp>
          <p:nvSpPr>
            <p:cNvPr name="Freeform 3" id="3"/>
            <p:cNvSpPr/>
            <p:nvPr/>
          </p:nvSpPr>
          <p:spPr>
            <a:xfrm flipH="false" flipV="false" rot="0">
              <a:off x="0" y="0"/>
              <a:ext cx="1900944" cy="1304764"/>
            </a:xfrm>
            <a:custGeom>
              <a:avLst/>
              <a:gdLst/>
              <a:ahLst/>
              <a:cxnLst/>
              <a:rect r="r" b="b" t="t" l="l"/>
              <a:pathLst>
                <a:path h="1304764" w="1900944">
                  <a:moveTo>
                    <a:pt x="43978" y="0"/>
                  </a:moveTo>
                  <a:lnTo>
                    <a:pt x="1856966" y="0"/>
                  </a:lnTo>
                  <a:cubicBezTo>
                    <a:pt x="1868629" y="0"/>
                    <a:pt x="1879815" y="4633"/>
                    <a:pt x="1888063" y="12881"/>
                  </a:cubicBezTo>
                  <a:cubicBezTo>
                    <a:pt x="1896310" y="21128"/>
                    <a:pt x="1900944" y="32314"/>
                    <a:pt x="1900944" y="43978"/>
                  </a:cubicBezTo>
                  <a:lnTo>
                    <a:pt x="1900944" y="1260786"/>
                  </a:lnTo>
                  <a:cubicBezTo>
                    <a:pt x="1900944" y="1285075"/>
                    <a:pt x="1881254" y="1304764"/>
                    <a:pt x="1856966" y="1304764"/>
                  </a:cubicBezTo>
                  <a:lnTo>
                    <a:pt x="43978" y="1304764"/>
                  </a:lnTo>
                  <a:cubicBezTo>
                    <a:pt x="32314" y="1304764"/>
                    <a:pt x="21128" y="1300131"/>
                    <a:pt x="12881" y="1291884"/>
                  </a:cubicBezTo>
                  <a:cubicBezTo>
                    <a:pt x="4633" y="1283636"/>
                    <a:pt x="0" y="1272450"/>
                    <a:pt x="0" y="1260786"/>
                  </a:cubicBezTo>
                  <a:lnTo>
                    <a:pt x="0" y="43978"/>
                  </a:lnTo>
                  <a:cubicBezTo>
                    <a:pt x="0" y="19690"/>
                    <a:pt x="19690" y="0"/>
                    <a:pt x="43978" y="0"/>
                  </a:cubicBezTo>
                  <a:close/>
                </a:path>
              </a:pathLst>
            </a:custGeom>
            <a:solidFill>
              <a:srgbClr val="FFFFFF"/>
            </a:solidFill>
          </p:spPr>
        </p:sp>
        <p:sp>
          <p:nvSpPr>
            <p:cNvPr name="TextBox 4" id="4"/>
            <p:cNvSpPr txBox="true"/>
            <p:nvPr/>
          </p:nvSpPr>
          <p:spPr>
            <a:xfrm>
              <a:off x="0" y="-57150"/>
              <a:ext cx="1900944" cy="136191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10800000">
            <a:off x="14925133" y="-1161847"/>
            <a:ext cx="3362867" cy="6508268"/>
          </a:xfrm>
          <a:custGeom>
            <a:avLst/>
            <a:gdLst/>
            <a:ahLst/>
            <a:cxnLst/>
            <a:rect r="r" b="b" t="t" l="l"/>
            <a:pathLst>
              <a:path h="6508268" w="3362867">
                <a:moveTo>
                  <a:pt x="0" y="0"/>
                </a:moveTo>
                <a:lnTo>
                  <a:pt x="3362867" y="0"/>
                </a:lnTo>
                <a:lnTo>
                  <a:pt x="3362867" y="6508268"/>
                </a:lnTo>
                <a:lnTo>
                  <a:pt x="0" y="6508268"/>
                </a:lnTo>
                <a:lnTo>
                  <a:pt x="0" y="0"/>
                </a:lnTo>
                <a:close/>
              </a:path>
            </a:pathLst>
          </a:custGeom>
          <a:blipFill>
            <a:blip r:embed="rId2">
              <a:extLst>
                <a:ext uri="{96DAC541-7B7A-43D3-8B79-37D633B846F1}">
                  <asvg:svgBlip xmlns:asvg="http://schemas.microsoft.com/office/drawing/2016/SVG/main" r:embed="rId3"/>
                </a:ext>
              </a:extLst>
            </a:blip>
            <a:stretch>
              <a:fillRect l="0" t="0" r="-72244" b="0"/>
            </a:stretch>
          </a:blipFill>
        </p:spPr>
      </p:sp>
      <p:grpSp>
        <p:nvGrpSpPr>
          <p:cNvPr name="Group 6" id="6"/>
          <p:cNvGrpSpPr/>
          <p:nvPr/>
        </p:nvGrpSpPr>
        <p:grpSpPr>
          <a:xfrm rot="0">
            <a:off x="9332185" y="3935705"/>
            <a:ext cx="7217647" cy="4954027"/>
            <a:chOff x="0" y="0"/>
            <a:chExt cx="1900944" cy="1304764"/>
          </a:xfrm>
        </p:grpSpPr>
        <p:sp>
          <p:nvSpPr>
            <p:cNvPr name="Freeform 7" id="7"/>
            <p:cNvSpPr/>
            <p:nvPr/>
          </p:nvSpPr>
          <p:spPr>
            <a:xfrm flipH="false" flipV="false" rot="0">
              <a:off x="0" y="0"/>
              <a:ext cx="1900944" cy="1304764"/>
            </a:xfrm>
            <a:custGeom>
              <a:avLst/>
              <a:gdLst/>
              <a:ahLst/>
              <a:cxnLst/>
              <a:rect r="r" b="b" t="t" l="l"/>
              <a:pathLst>
                <a:path h="1304764" w="1900944">
                  <a:moveTo>
                    <a:pt x="43978" y="0"/>
                  </a:moveTo>
                  <a:lnTo>
                    <a:pt x="1856966" y="0"/>
                  </a:lnTo>
                  <a:cubicBezTo>
                    <a:pt x="1868629" y="0"/>
                    <a:pt x="1879815" y="4633"/>
                    <a:pt x="1888063" y="12881"/>
                  </a:cubicBezTo>
                  <a:cubicBezTo>
                    <a:pt x="1896310" y="21128"/>
                    <a:pt x="1900944" y="32314"/>
                    <a:pt x="1900944" y="43978"/>
                  </a:cubicBezTo>
                  <a:lnTo>
                    <a:pt x="1900944" y="1260786"/>
                  </a:lnTo>
                  <a:cubicBezTo>
                    <a:pt x="1900944" y="1285075"/>
                    <a:pt x="1881254" y="1304764"/>
                    <a:pt x="1856966" y="1304764"/>
                  </a:cubicBezTo>
                  <a:lnTo>
                    <a:pt x="43978" y="1304764"/>
                  </a:lnTo>
                  <a:cubicBezTo>
                    <a:pt x="32314" y="1304764"/>
                    <a:pt x="21128" y="1300131"/>
                    <a:pt x="12881" y="1291884"/>
                  </a:cubicBezTo>
                  <a:cubicBezTo>
                    <a:pt x="4633" y="1283636"/>
                    <a:pt x="0" y="1272450"/>
                    <a:pt x="0" y="1260786"/>
                  </a:cubicBezTo>
                  <a:lnTo>
                    <a:pt x="0" y="43978"/>
                  </a:lnTo>
                  <a:cubicBezTo>
                    <a:pt x="0" y="19690"/>
                    <a:pt x="19690" y="0"/>
                    <a:pt x="43978" y="0"/>
                  </a:cubicBezTo>
                  <a:close/>
                </a:path>
              </a:pathLst>
            </a:custGeom>
            <a:solidFill>
              <a:srgbClr val="FFFFFF"/>
            </a:solidFill>
          </p:spPr>
        </p:sp>
        <p:sp>
          <p:nvSpPr>
            <p:cNvPr name="TextBox 8" id="8"/>
            <p:cNvSpPr txBox="true"/>
            <p:nvPr/>
          </p:nvSpPr>
          <p:spPr>
            <a:xfrm>
              <a:off x="0" y="-57150"/>
              <a:ext cx="1900944" cy="136191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545835" y="3134548"/>
            <a:ext cx="1602314" cy="160231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2139851" y="3134548"/>
            <a:ext cx="1602314" cy="160231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1104900"/>
            <a:ext cx="16230600" cy="987387"/>
          </a:xfrm>
          <a:prstGeom prst="rect">
            <a:avLst/>
          </a:prstGeom>
        </p:spPr>
        <p:txBody>
          <a:bodyPr anchor="t" rtlCol="false" tIns="0" lIns="0" bIns="0" rIns="0">
            <a:spAutoFit/>
          </a:bodyPr>
          <a:lstStyle/>
          <a:p>
            <a:pPr algn="ctr">
              <a:lnSpc>
                <a:spcPts val="6998"/>
              </a:lnSpc>
            </a:pPr>
            <a:r>
              <a:rPr lang="en-US" b="true" sz="6998" spc="-139">
                <a:solidFill>
                  <a:srgbClr val="F8F8F8"/>
                </a:solidFill>
                <a:latin typeface="Poppins Bold"/>
                <a:ea typeface="Poppins Bold"/>
                <a:cs typeface="Poppins Bold"/>
                <a:sym typeface="Poppins Bold"/>
              </a:rPr>
              <a:t>Alcance del proyecto</a:t>
            </a:r>
          </a:p>
        </p:txBody>
      </p:sp>
      <p:grpSp>
        <p:nvGrpSpPr>
          <p:cNvPr name="Group 16" id="16"/>
          <p:cNvGrpSpPr/>
          <p:nvPr/>
        </p:nvGrpSpPr>
        <p:grpSpPr>
          <a:xfrm rot="0">
            <a:off x="2047806" y="4953517"/>
            <a:ext cx="6598370" cy="2094144"/>
            <a:chOff x="0" y="0"/>
            <a:chExt cx="8797827" cy="2792192"/>
          </a:xfrm>
        </p:grpSpPr>
        <p:sp>
          <p:nvSpPr>
            <p:cNvPr name="TextBox 17" id="17"/>
            <p:cNvSpPr txBox="true"/>
            <p:nvPr/>
          </p:nvSpPr>
          <p:spPr>
            <a:xfrm rot="0">
              <a:off x="0" y="918308"/>
              <a:ext cx="8797827" cy="1873885"/>
            </a:xfrm>
            <a:prstGeom prst="rect">
              <a:avLst/>
            </a:prstGeom>
          </p:spPr>
          <p:txBody>
            <a:bodyPr anchor="t" rtlCol="false" tIns="0" lIns="0" bIns="0" rIns="0">
              <a:spAutoFit/>
            </a:bodyPr>
            <a:lstStyle/>
            <a:p>
              <a:pPr algn="l" marL="453393" indent="-226697" lvl="1">
                <a:lnSpc>
                  <a:spcPts val="2835"/>
                </a:lnSpc>
                <a:buFont typeface="Arial"/>
                <a:buChar char="•"/>
              </a:pPr>
              <a:r>
                <a:rPr lang="en-US" sz="2100" spc="-42">
                  <a:solidFill>
                    <a:srgbClr val="000000"/>
                  </a:solidFill>
                  <a:latin typeface="Poppins"/>
                  <a:ea typeface="Poppins"/>
                  <a:cs typeface="Poppins"/>
                  <a:sym typeface="Poppins"/>
                </a:rPr>
                <a:t>Entreno de IA</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Omnicanalidad Externa</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Varios Bots</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Creacion de productos SaaS</a:t>
              </a:r>
            </a:p>
          </p:txBody>
        </p:sp>
        <p:sp>
          <p:nvSpPr>
            <p:cNvPr name="TextBox 18" id="18"/>
            <p:cNvSpPr txBox="true"/>
            <p:nvPr/>
          </p:nvSpPr>
          <p:spPr>
            <a:xfrm rot="0">
              <a:off x="0" y="-85725"/>
              <a:ext cx="8597104" cy="807086"/>
            </a:xfrm>
            <a:prstGeom prst="rect">
              <a:avLst/>
            </a:prstGeom>
          </p:spPr>
          <p:txBody>
            <a:bodyPr anchor="t" rtlCol="false" tIns="0" lIns="0" bIns="0" rIns="0">
              <a:spAutoFit/>
            </a:bodyPr>
            <a:lstStyle/>
            <a:p>
              <a:pPr algn="ctr">
                <a:lnSpc>
                  <a:spcPts val="4859"/>
                </a:lnSpc>
              </a:pPr>
              <a:r>
                <a:rPr lang="en-US" b="true" sz="3599" spc="-71">
                  <a:solidFill>
                    <a:srgbClr val="000000"/>
                  </a:solidFill>
                  <a:latin typeface="Poppins Bold"/>
                  <a:ea typeface="Poppins Bold"/>
                  <a:cs typeface="Poppins Bold"/>
                  <a:sym typeface="Poppins Bold"/>
                </a:rPr>
                <a:t>NO INCLUYE</a:t>
              </a:r>
            </a:p>
          </p:txBody>
        </p:sp>
      </p:grpSp>
      <p:grpSp>
        <p:nvGrpSpPr>
          <p:cNvPr name="Group 19" id="19"/>
          <p:cNvGrpSpPr/>
          <p:nvPr/>
        </p:nvGrpSpPr>
        <p:grpSpPr>
          <a:xfrm rot="0">
            <a:off x="9641823" y="4953517"/>
            <a:ext cx="6598370" cy="2446569"/>
            <a:chOff x="0" y="0"/>
            <a:chExt cx="8797827" cy="3262092"/>
          </a:xfrm>
        </p:grpSpPr>
        <p:sp>
          <p:nvSpPr>
            <p:cNvPr name="TextBox 20" id="20"/>
            <p:cNvSpPr txBox="true"/>
            <p:nvPr/>
          </p:nvSpPr>
          <p:spPr>
            <a:xfrm rot="0">
              <a:off x="0" y="918308"/>
              <a:ext cx="8797827" cy="2343785"/>
            </a:xfrm>
            <a:prstGeom prst="rect">
              <a:avLst/>
            </a:prstGeom>
          </p:spPr>
          <p:txBody>
            <a:bodyPr anchor="t" rtlCol="false" tIns="0" lIns="0" bIns="0" rIns="0">
              <a:spAutoFit/>
            </a:bodyPr>
            <a:lstStyle/>
            <a:p>
              <a:pPr algn="l" marL="453393" indent="-226697" lvl="1">
                <a:lnSpc>
                  <a:spcPts val="2835"/>
                </a:lnSpc>
                <a:buFont typeface="Arial"/>
                <a:buChar char="•"/>
              </a:pPr>
              <a:r>
                <a:rPr lang="en-US" sz="2100" spc="-42">
                  <a:solidFill>
                    <a:srgbClr val="000000"/>
                  </a:solidFill>
                  <a:latin typeface="Poppins"/>
                  <a:ea typeface="Poppins"/>
                  <a:cs typeface="Poppins"/>
                  <a:sym typeface="Poppins"/>
                </a:rPr>
                <a:t>Motor Multi-tenant</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Bot de primera linea</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Sistema de Derivacion</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Ticketera Comun/Generica</a:t>
              </a:r>
            </a:p>
            <a:p>
              <a:pPr algn="l" marL="453393" indent="-226697" lvl="1">
                <a:lnSpc>
                  <a:spcPts val="2835"/>
                </a:lnSpc>
                <a:buFont typeface="Arial"/>
                <a:buChar char="•"/>
              </a:pPr>
              <a:r>
                <a:rPr lang="en-US" sz="2100" spc="-42">
                  <a:solidFill>
                    <a:srgbClr val="000000"/>
                  </a:solidFill>
                  <a:latin typeface="Poppins"/>
                  <a:ea typeface="Poppins"/>
                  <a:cs typeface="Poppins"/>
                  <a:sym typeface="Poppins"/>
                </a:rPr>
                <a:t>Notificacion/Seguimiento</a:t>
              </a:r>
            </a:p>
          </p:txBody>
        </p:sp>
        <p:sp>
          <p:nvSpPr>
            <p:cNvPr name="TextBox 21" id="21"/>
            <p:cNvSpPr txBox="true"/>
            <p:nvPr/>
          </p:nvSpPr>
          <p:spPr>
            <a:xfrm rot="0">
              <a:off x="0" y="-85725"/>
              <a:ext cx="8597104" cy="807086"/>
            </a:xfrm>
            <a:prstGeom prst="rect">
              <a:avLst/>
            </a:prstGeom>
          </p:spPr>
          <p:txBody>
            <a:bodyPr anchor="t" rtlCol="false" tIns="0" lIns="0" bIns="0" rIns="0">
              <a:spAutoFit/>
            </a:bodyPr>
            <a:lstStyle/>
            <a:p>
              <a:pPr algn="ctr">
                <a:lnSpc>
                  <a:spcPts val="4859"/>
                </a:lnSpc>
              </a:pPr>
              <a:r>
                <a:rPr lang="en-US" b="true" sz="3599" spc="-71">
                  <a:solidFill>
                    <a:srgbClr val="000000"/>
                  </a:solidFill>
                  <a:latin typeface="Poppins Bold"/>
                  <a:ea typeface="Poppins Bold"/>
                  <a:cs typeface="Poppins Bold"/>
                  <a:sym typeface="Poppins Bold"/>
                </a:rPr>
                <a:t>INCLUYE</a:t>
              </a:r>
            </a:p>
          </p:txBody>
        </p:sp>
      </p:grpSp>
      <p:grpSp>
        <p:nvGrpSpPr>
          <p:cNvPr name="Group 22" id="22"/>
          <p:cNvGrpSpPr/>
          <p:nvPr/>
        </p:nvGrpSpPr>
        <p:grpSpPr>
          <a:xfrm rot="0">
            <a:off x="4844465" y="3433177"/>
            <a:ext cx="1005054" cy="1005054"/>
            <a:chOff x="0" y="0"/>
            <a:chExt cx="1340072" cy="1340072"/>
          </a:xfrm>
        </p:grpSpPr>
        <p:sp>
          <p:nvSpPr>
            <p:cNvPr name="AutoShape 23" id="23"/>
            <p:cNvSpPr/>
            <p:nvPr/>
          </p:nvSpPr>
          <p:spPr>
            <a:xfrm flipV="true">
              <a:off x="71842" y="71842"/>
              <a:ext cx="1196388" cy="1196388"/>
            </a:xfrm>
            <a:prstGeom prst="line">
              <a:avLst/>
            </a:prstGeom>
            <a:ln cap="rnd" w="203200">
              <a:solidFill>
                <a:srgbClr val="E94B35"/>
              </a:solidFill>
              <a:prstDash val="solid"/>
              <a:headEnd type="none" len="sm" w="sm"/>
              <a:tailEnd type="none" len="sm" w="sm"/>
            </a:ln>
          </p:spPr>
        </p:sp>
        <p:sp>
          <p:nvSpPr>
            <p:cNvPr name="AutoShape 24" id="24"/>
            <p:cNvSpPr/>
            <p:nvPr/>
          </p:nvSpPr>
          <p:spPr>
            <a:xfrm flipH="true" flipV="true">
              <a:off x="71842" y="71842"/>
              <a:ext cx="1196388" cy="1196388"/>
            </a:xfrm>
            <a:prstGeom prst="line">
              <a:avLst/>
            </a:prstGeom>
            <a:ln cap="rnd" w="203200">
              <a:solidFill>
                <a:srgbClr val="E94B35"/>
              </a:solidFill>
              <a:prstDash val="solid"/>
              <a:headEnd type="none" len="sm" w="sm"/>
              <a:tailEnd type="none" len="sm" w="sm"/>
            </a:ln>
          </p:spPr>
        </p:sp>
      </p:grpSp>
      <p:grpSp>
        <p:nvGrpSpPr>
          <p:cNvPr name="Group 25" id="25"/>
          <p:cNvGrpSpPr/>
          <p:nvPr/>
        </p:nvGrpSpPr>
        <p:grpSpPr>
          <a:xfrm rot="0">
            <a:off x="12346659" y="3508355"/>
            <a:ext cx="1188699" cy="854699"/>
            <a:chOff x="0" y="0"/>
            <a:chExt cx="1584932" cy="1139599"/>
          </a:xfrm>
        </p:grpSpPr>
        <p:sp>
          <p:nvSpPr>
            <p:cNvPr name="AutoShape 26" id="26"/>
            <p:cNvSpPr/>
            <p:nvPr/>
          </p:nvSpPr>
          <p:spPr>
            <a:xfrm flipV="true">
              <a:off x="517175" y="71842"/>
              <a:ext cx="995915" cy="995915"/>
            </a:xfrm>
            <a:prstGeom prst="line">
              <a:avLst/>
            </a:prstGeom>
            <a:ln cap="rnd" w="203200">
              <a:solidFill>
                <a:srgbClr val="0FB81E"/>
              </a:solidFill>
              <a:prstDash val="solid"/>
              <a:headEnd type="none" len="sm" w="sm"/>
              <a:tailEnd type="none" len="sm" w="sm"/>
            </a:ln>
          </p:spPr>
        </p:sp>
        <p:sp>
          <p:nvSpPr>
            <p:cNvPr name="AutoShape 27" id="27"/>
            <p:cNvSpPr/>
            <p:nvPr/>
          </p:nvSpPr>
          <p:spPr>
            <a:xfrm flipH="true" flipV="true">
              <a:off x="73437" y="469563"/>
              <a:ext cx="571917" cy="598194"/>
            </a:xfrm>
            <a:prstGeom prst="line">
              <a:avLst/>
            </a:prstGeom>
            <a:ln cap="rnd" w="203200">
              <a:solidFill>
                <a:srgbClr val="0FB81E"/>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838200"/>
            <a:ext cx="16230600" cy="987425"/>
          </a:xfrm>
          <a:prstGeom prst="rect">
            <a:avLst/>
          </a:prstGeom>
        </p:spPr>
        <p:txBody>
          <a:bodyPr anchor="t" rtlCol="false" tIns="0" lIns="0" bIns="0" rIns="0">
            <a:spAutoFit/>
          </a:bodyPr>
          <a:lstStyle/>
          <a:p>
            <a:pPr algn="ctr">
              <a:lnSpc>
                <a:spcPts val="6999"/>
              </a:lnSpc>
            </a:pPr>
            <a:r>
              <a:rPr lang="en-US" b="true" sz="6999">
                <a:solidFill>
                  <a:srgbClr val="F8F8F8"/>
                </a:solidFill>
                <a:latin typeface="Poppins Bold"/>
                <a:ea typeface="Poppins Bold"/>
                <a:cs typeface="Poppins Bold"/>
                <a:sym typeface="Poppins Bold"/>
              </a:rPr>
              <a:t>Cronograma del Proyecto</a:t>
            </a:r>
          </a:p>
        </p:txBody>
      </p:sp>
      <p:sp>
        <p:nvSpPr>
          <p:cNvPr name="AutoShape 3" id="3"/>
          <p:cNvSpPr/>
          <p:nvPr/>
        </p:nvSpPr>
        <p:spPr>
          <a:xfrm>
            <a:off x="2667000" y="2190750"/>
            <a:ext cx="0" cy="3086100"/>
          </a:xfrm>
          <a:prstGeom prst="line">
            <a:avLst/>
          </a:prstGeom>
          <a:ln cap="flat" w="9525">
            <a:solidFill>
              <a:srgbClr val="555555">
                <a:alpha val="29804"/>
              </a:srgbClr>
            </a:solidFill>
            <a:prstDash val="solid"/>
            <a:headEnd type="none" len="sm" w="sm"/>
            <a:tailEnd type="none" len="sm" w="sm"/>
          </a:ln>
        </p:spPr>
      </p:sp>
      <p:sp>
        <p:nvSpPr>
          <p:cNvPr name="AutoShape 4" id="4"/>
          <p:cNvSpPr/>
          <p:nvPr/>
        </p:nvSpPr>
        <p:spPr>
          <a:xfrm>
            <a:off x="3600450" y="2190750"/>
            <a:ext cx="0" cy="3086100"/>
          </a:xfrm>
          <a:prstGeom prst="line">
            <a:avLst/>
          </a:prstGeom>
          <a:ln cap="flat" w="9525">
            <a:solidFill>
              <a:srgbClr val="555555">
                <a:alpha val="29804"/>
              </a:srgbClr>
            </a:solidFill>
            <a:prstDash val="solid"/>
            <a:headEnd type="none" len="sm" w="sm"/>
            <a:tailEnd type="none" len="sm" w="sm"/>
          </a:ln>
        </p:spPr>
      </p:sp>
      <p:sp>
        <p:nvSpPr>
          <p:cNvPr name="AutoShape 5" id="5"/>
          <p:cNvSpPr/>
          <p:nvPr/>
        </p:nvSpPr>
        <p:spPr>
          <a:xfrm>
            <a:off x="4533900" y="2190750"/>
            <a:ext cx="0" cy="3086100"/>
          </a:xfrm>
          <a:prstGeom prst="line">
            <a:avLst/>
          </a:prstGeom>
          <a:ln cap="flat" w="9525">
            <a:solidFill>
              <a:srgbClr val="555555">
                <a:alpha val="29804"/>
              </a:srgbClr>
            </a:solidFill>
            <a:prstDash val="solid"/>
            <a:headEnd type="none" len="sm" w="sm"/>
            <a:tailEnd type="none" len="sm" w="sm"/>
          </a:ln>
        </p:spPr>
      </p:sp>
      <p:sp>
        <p:nvSpPr>
          <p:cNvPr name="AutoShape 6" id="6"/>
          <p:cNvSpPr/>
          <p:nvPr/>
        </p:nvSpPr>
        <p:spPr>
          <a:xfrm>
            <a:off x="5467350" y="2190750"/>
            <a:ext cx="0" cy="3086100"/>
          </a:xfrm>
          <a:prstGeom prst="line">
            <a:avLst/>
          </a:prstGeom>
          <a:ln cap="flat" w="9525">
            <a:solidFill>
              <a:srgbClr val="555555">
                <a:alpha val="29804"/>
              </a:srgbClr>
            </a:solidFill>
            <a:prstDash val="solid"/>
            <a:headEnd type="none" len="sm" w="sm"/>
            <a:tailEnd type="none" len="sm" w="sm"/>
          </a:ln>
        </p:spPr>
      </p:sp>
      <p:sp>
        <p:nvSpPr>
          <p:cNvPr name="AutoShape 7" id="7"/>
          <p:cNvSpPr/>
          <p:nvPr/>
        </p:nvSpPr>
        <p:spPr>
          <a:xfrm>
            <a:off x="6400800" y="2190750"/>
            <a:ext cx="0" cy="3086100"/>
          </a:xfrm>
          <a:prstGeom prst="line">
            <a:avLst/>
          </a:prstGeom>
          <a:ln cap="flat" w="9525">
            <a:solidFill>
              <a:srgbClr val="555555">
                <a:alpha val="29804"/>
              </a:srgbClr>
            </a:solidFill>
            <a:prstDash val="solid"/>
            <a:headEnd type="none" len="sm" w="sm"/>
            <a:tailEnd type="none" len="sm" w="sm"/>
          </a:ln>
        </p:spPr>
      </p:sp>
      <p:sp>
        <p:nvSpPr>
          <p:cNvPr name="AutoShape 8" id="8"/>
          <p:cNvSpPr/>
          <p:nvPr/>
        </p:nvSpPr>
        <p:spPr>
          <a:xfrm>
            <a:off x="7334250" y="2190750"/>
            <a:ext cx="0" cy="3086100"/>
          </a:xfrm>
          <a:prstGeom prst="line">
            <a:avLst/>
          </a:prstGeom>
          <a:ln cap="flat" w="9525">
            <a:solidFill>
              <a:srgbClr val="555555">
                <a:alpha val="29804"/>
              </a:srgbClr>
            </a:solidFill>
            <a:prstDash val="solid"/>
            <a:headEnd type="none" len="sm" w="sm"/>
            <a:tailEnd type="none" len="sm" w="sm"/>
          </a:ln>
        </p:spPr>
      </p:sp>
      <p:sp>
        <p:nvSpPr>
          <p:cNvPr name="AutoShape 9" id="9"/>
          <p:cNvSpPr/>
          <p:nvPr/>
        </p:nvSpPr>
        <p:spPr>
          <a:xfrm>
            <a:off x="8267700" y="2190750"/>
            <a:ext cx="0" cy="3086100"/>
          </a:xfrm>
          <a:prstGeom prst="line">
            <a:avLst/>
          </a:prstGeom>
          <a:ln cap="flat" w="9525">
            <a:solidFill>
              <a:srgbClr val="555555">
                <a:alpha val="29804"/>
              </a:srgbClr>
            </a:solidFill>
            <a:prstDash val="solid"/>
            <a:headEnd type="none" len="sm" w="sm"/>
            <a:tailEnd type="none" len="sm" w="sm"/>
          </a:ln>
        </p:spPr>
      </p:sp>
      <p:sp>
        <p:nvSpPr>
          <p:cNvPr name="AutoShape 10" id="10"/>
          <p:cNvSpPr/>
          <p:nvPr/>
        </p:nvSpPr>
        <p:spPr>
          <a:xfrm>
            <a:off x="9201150" y="2190750"/>
            <a:ext cx="0" cy="3086100"/>
          </a:xfrm>
          <a:prstGeom prst="line">
            <a:avLst/>
          </a:prstGeom>
          <a:ln cap="flat" w="9525">
            <a:solidFill>
              <a:srgbClr val="555555">
                <a:alpha val="29804"/>
              </a:srgbClr>
            </a:solidFill>
            <a:prstDash val="solid"/>
            <a:headEnd type="none" len="sm" w="sm"/>
            <a:tailEnd type="none" len="sm" w="sm"/>
          </a:ln>
        </p:spPr>
      </p:sp>
      <p:sp>
        <p:nvSpPr>
          <p:cNvPr name="AutoShape 11" id="11"/>
          <p:cNvSpPr/>
          <p:nvPr/>
        </p:nvSpPr>
        <p:spPr>
          <a:xfrm>
            <a:off x="10134600" y="2190750"/>
            <a:ext cx="0" cy="3086100"/>
          </a:xfrm>
          <a:prstGeom prst="line">
            <a:avLst/>
          </a:prstGeom>
          <a:ln cap="flat" w="9525">
            <a:solidFill>
              <a:srgbClr val="555555">
                <a:alpha val="29804"/>
              </a:srgbClr>
            </a:solidFill>
            <a:prstDash val="solid"/>
            <a:headEnd type="none" len="sm" w="sm"/>
            <a:tailEnd type="none" len="sm" w="sm"/>
          </a:ln>
        </p:spPr>
      </p:sp>
      <p:sp>
        <p:nvSpPr>
          <p:cNvPr name="AutoShape 12" id="12"/>
          <p:cNvSpPr/>
          <p:nvPr/>
        </p:nvSpPr>
        <p:spPr>
          <a:xfrm>
            <a:off x="11068050" y="2190750"/>
            <a:ext cx="0" cy="3086100"/>
          </a:xfrm>
          <a:prstGeom prst="line">
            <a:avLst/>
          </a:prstGeom>
          <a:ln cap="flat" w="9525">
            <a:solidFill>
              <a:srgbClr val="555555">
                <a:alpha val="29804"/>
              </a:srgbClr>
            </a:solidFill>
            <a:prstDash val="solid"/>
            <a:headEnd type="none" len="sm" w="sm"/>
            <a:tailEnd type="none" len="sm" w="sm"/>
          </a:ln>
        </p:spPr>
      </p:sp>
      <p:sp>
        <p:nvSpPr>
          <p:cNvPr name="AutoShape 13" id="13"/>
          <p:cNvSpPr/>
          <p:nvPr/>
        </p:nvSpPr>
        <p:spPr>
          <a:xfrm>
            <a:off x="12001500" y="2190750"/>
            <a:ext cx="0" cy="3086100"/>
          </a:xfrm>
          <a:prstGeom prst="line">
            <a:avLst/>
          </a:prstGeom>
          <a:ln cap="flat" w="9525">
            <a:solidFill>
              <a:srgbClr val="555555">
                <a:alpha val="29804"/>
              </a:srgbClr>
            </a:solidFill>
            <a:prstDash val="solid"/>
            <a:headEnd type="none" len="sm" w="sm"/>
            <a:tailEnd type="none" len="sm" w="sm"/>
          </a:ln>
        </p:spPr>
      </p:sp>
      <p:sp>
        <p:nvSpPr>
          <p:cNvPr name="AutoShape 14" id="14"/>
          <p:cNvSpPr/>
          <p:nvPr/>
        </p:nvSpPr>
        <p:spPr>
          <a:xfrm>
            <a:off x="12934950" y="2190750"/>
            <a:ext cx="0" cy="3086100"/>
          </a:xfrm>
          <a:prstGeom prst="line">
            <a:avLst/>
          </a:prstGeom>
          <a:ln cap="flat" w="9525">
            <a:solidFill>
              <a:srgbClr val="555555">
                <a:alpha val="29804"/>
              </a:srgbClr>
            </a:solidFill>
            <a:prstDash val="solid"/>
            <a:headEnd type="none" len="sm" w="sm"/>
            <a:tailEnd type="none" len="sm" w="sm"/>
          </a:ln>
        </p:spPr>
      </p:sp>
      <p:sp>
        <p:nvSpPr>
          <p:cNvPr name="AutoShape 15" id="15"/>
          <p:cNvSpPr/>
          <p:nvPr/>
        </p:nvSpPr>
        <p:spPr>
          <a:xfrm>
            <a:off x="13868400" y="2190750"/>
            <a:ext cx="0" cy="3086100"/>
          </a:xfrm>
          <a:prstGeom prst="line">
            <a:avLst/>
          </a:prstGeom>
          <a:ln cap="flat" w="9525">
            <a:solidFill>
              <a:srgbClr val="555555">
                <a:alpha val="29804"/>
              </a:srgbClr>
            </a:solidFill>
            <a:prstDash val="solid"/>
            <a:headEnd type="none" len="sm" w="sm"/>
            <a:tailEnd type="none" len="sm" w="sm"/>
          </a:ln>
        </p:spPr>
      </p:sp>
      <p:sp>
        <p:nvSpPr>
          <p:cNvPr name="AutoShape 16" id="16"/>
          <p:cNvSpPr/>
          <p:nvPr/>
        </p:nvSpPr>
        <p:spPr>
          <a:xfrm>
            <a:off x="14801850" y="2190750"/>
            <a:ext cx="0" cy="3086100"/>
          </a:xfrm>
          <a:prstGeom prst="line">
            <a:avLst/>
          </a:prstGeom>
          <a:ln cap="flat" w="9525">
            <a:solidFill>
              <a:srgbClr val="555555">
                <a:alpha val="29804"/>
              </a:srgbClr>
            </a:solidFill>
            <a:prstDash val="solid"/>
            <a:headEnd type="none" len="sm" w="sm"/>
            <a:tailEnd type="none" len="sm" w="sm"/>
          </a:ln>
        </p:spPr>
      </p:sp>
      <p:sp>
        <p:nvSpPr>
          <p:cNvPr name="AutoShape 17" id="17"/>
          <p:cNvSpPr/>
          <p:nvPr/>
        </p:nvSpPr>
        <p:spPr>
          <a:xfrm>
            <a:off x="15735300" y="2190750"/>
            <a:ext cx="0" cy="3086100"/>
          </a:xfrm>
          <a:prstGeom prst="line">
            <a:avLst/>
          </a:prstGeom>
          <a:ln cap="flat" w="9525">
            <a:solidFill>
              <a:srgbClr val="555555">
                <a:alpha val="29804"/>
              </a:srgbClr>
            </a:solidFill>
            <a:prstDash val="solid"/>
            <a:headEnd type="none" len="sm" w="sm"/>
            <a:tailEnd type="none" len="sm" w="sm"/>
          </a:ln>
        </p:spPr>
      </p:sp>
      <p:sp>
        <p:nvSpPr>
          <p:cNvPr name="AutoShape 18" id="18"/>
          <p:cNvSpPr/>
          <p:nvPr/>
        </p:nvSpPr>
        <p:spPr>
          <a:xfrm>
            <a:off x="16668750" y="2190750"/>
            <a:ext cx="0" cy="3086100"/>
          </a:xfrm>
          <a:prstGeom prst="line">
            <a:avLst/>
          </a:prstGeom>
          <a:ln cap="flat" w="9525">
            <a:solidFill>
              <a:srgbClr val="555555">
                <a:alpha val="29804"/>
              </a:srgbClr>
            </a:solidFill>
            <a:prstDash val="solid"/>
            <a:headEnd type="none" len="sm" w="sm"/>
            <a:tailEnd type="none" len="sm" w="sm"/>
          </a:ln>
        </p:spPr>
      </p:sp>
      <p:sp>
        <p:nvSpPr>
          <p:cNvPr name="AutoShape 19" id="19"/>
          <p:cNvSpPr/>
          <p:nvPr/>
        </p:nvSpPr>
        <p:spPr>
          <a:xfrm>
            <a:off x="17602200" y="2190750"/>
            <a:ext cx="0" cy="3086100"/>
          </a:xfrm>
          <a:prstGeom prst="line">
            <a:avLst/>
          </a:prstGeom>
          <a:ln cap="flat" w="9525">
            <a:solidFill>
              <a:srgbClr val="555555">
                <a:alpha val="29804"/>
              </a:srgbClr>
            </a:solidFill>
            <a:prstDash val="solid"/>
            <a:headEnd type="none" len="sm" w="sm"/>
            <a:tailEnd type="none" len="sm" w="sm"/>
          </a:ln>
        </p:spPr>
      </p:sp>
      <p:sp>
        <p:nvSpPr>
          <p:cNvPr name="Freeform 20" id="20"/>
          <p:cNvSpPr/>
          <p:nvPr/>
        </p:nvSpPr>
        <p:spPr>
          <a:xfrm flipH="false" flipV="false" rot="0">
            <a:off x="0" y="5562600"/>
            <a:ext cx="5789647" cy="6508268"/>
          </a:xfrm>
          <a:custGeom>
            <a:avLst/>
            <a:gdLst/>
            <a:ahLst/>
            <a:cxnLst/>
            <a:rect r="r" b="b" t="t" l="l"/>
            <a:pathLst>
              <a:path h="6508268" w="5789647">
                <a:moveTo>
                  <a:pt x="0" y="0"/>
                </a:moveTo>
                <a:lnTo>
                  <a:pt x="5789647" y="0"/>
                </a:lnTo>
                <a:lnTo>
                  <a:pt x="5789647" y="6508268"/>
                </a:lnTo>
                <a:lnTo>
                  <a:pt x="0" y="6508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1" id="21"/>
          <p:cNvGrpSpPr/>
          <p:nvPr/>
        </p:nvGrpSpPr>
        <p:grpSpPr>
          <a:xfrm rot="0">
            <a:off x="2667000" y="2190750"/>
            <a:ext cx="914400" cy="381000"/>
            <a:chOff x="0" y="0"/>
            <a:chExt cx="1219200" cy="508000"/>
          </a:xfrm>
        </p:grpSpPr>
        <p:sp>
          <p:nvSpPr>
            <p:cNvPr name="Freeform 22" id="22"/>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23" id="23"/>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26765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a:t>
            </a:r>
          </a:p>
        </p:txBody>
      </p:sp>
      <p:grpSp>
        <p:nvGrpSpPr>
          <p:cNvPr name="Group 25" id="25"/>
          <p:cNvGrpSpPr/>
          <p:nvPr/>
        </p:nvGrpSpPr>
        <p:grpSpPr>
          <a:xfrm rot="0">
            <a:off x="3600450" y="2190750"/>
            <a:ext cx="914400" cy="381000"/>
            <a:chOff x="0" y="0"/>
            <a:chExt cx="1219200" cy="508000"/>
          </a:xfrm>
        </p:grpSpPr>
        <p:sp>
          <p:nvSpPr>
            <p:cNvPr name="Freeform 26" id="26"/>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27" id="27"/>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36099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S2</a:t>
            </a:r>
          </a:p>
        </p:txBody>
      </p:sp>
      <p:grpSp>
        <p:nvGrpSpPr>
          <p:cNvPr name="Group 29" id="29"/>
          <p:cNvGrpSpPr/>
          <p:nvPr/>
        </p:nvGrpSpPr>
        <p:grpSpPr>
          <a:xfrm rot="0">
            <a:off x="4533900" y="2190750"/>
            <a:ext cx="914400" cy="381000"/>
            <a:chOff x="0" y="0"/>
            <a:chExt cx="1219200" cy="508000"/>
          </a:xfrm>
        </p:grpSpPr>
        <p:sp>
          <p:nvSpPr>
            <p:cNvPr name="Freeform 30" id="30"/>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31" id="31"/>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45434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S3</a:t>
            </a:r>
          </a:p>
        </p:txBody>
      </p:sp>
      <p:grpSp>
        <p:nvGrpSpPr>
          <p:cNvPr name="Group 33" id="33"/>
          <p:cNvGrpSpPr/>
          <p:nvPr/>
        </p:nvGrpSpPr>
        <p:grpSpPr>
          <a:xfrm rot="0">
            <a:off x="5467350" y="2190750"/>
            <a:ext cx="914400" cy="381000"/>
            <a:chOff x="0" y="0"/>
            <a:chExt cx="1219200" cy="508000"/>
          </a:xfrm>
        </p:grpSpPr>
        <p:sp>
          <p:nvSpPr>
            <p:cNvPr name="Freeform 34" id="34"/>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35" id="35"/>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54768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S4</a:t>
            </a:r>
          </a:p>
        </p:txBody>
      </p:sp>
      <p:grpSp>
        <p:nvGrpSpPr>
          <p:cNvPr name="Group 37" id="37"/>
          <p:cNvGrpSpPr/>
          <p:nvPr/>
        </p:nvGrpSpPr>
        <p:grpSpPr>
          <a:xfrm rot="0">
            <a:off x="6400800" y="2190750"/>
            <a:ext cx="914400" cy="381000"/>
            <a:chOff x="0" y="0"/>
            <a:chExt cx="1219200" cy="508000"/>
          </a:xfrm>
        </p:grpSpPr>
        <p:sp>
          <p:nvSpPr>
            <p:cNvPr name="Freeform 38" id="38"/>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39" id="39"/>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64103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S5</a:t>
            </a:r>
          </a:p>
        </p:txBody>
      </p:sp>
      <p:grpSp>
        <p:nvGrpSpPr>
          <p:cNvPr name="Group 41" id="41"/>
          <p:cNvGrpSpPr/>
          <p:nvPr/>
        </p:nvGrpSpPr>
        <p:grpSpPr>
          <a:xfrm rot="0">
            <a:off x="7334250" y="2190750"/>
            <a:ext cx="914400" cy="381000"/>
            <a:chOff x="0" y="0"/>
            <a:chExt cx="1219200" cy="508000"/>
          </a:xfrm>
        </p:grpSpPr>
        <p:sp>
          <p:nvSpPr>
            <p:cNvPr name="Freeform 42" id="42"/>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43" id="43"/>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73437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S6</a:t>
            </a:r>
          </a:p>
        </p:txBody>
      </p:sp>
      <p:grpSp>
        <p:nvGrpSpPr>
          <p:cNvPr name="Group 45" id="45"/>
          <p:cNvGrpSpPr/>
          <p:nvPr/>
        </p:nvGrpSpPr>
        <p:grpSpPr>
          <a:xfrm rot="0">
            <a:off x="8267700" y="2190750"/>
            <a:ext cx="914400" cy="381000"/>
            <a:chOff x="0" y="0"/>
            <a:chExt cx="1219200" cy="508000"/>
          </a:xfrm>
        </p:grpSpPr>
        <p:sp>
          <p:nvSpPr>
            <p:cNvPr name="Freeform 46" id="46"/>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47" id="47"/>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48" id="48"/>
          <p:cNvSpPr txBox="true"/>
          <p:nvPr/>
        </p:nvSpPr>
        <p:spPr>
          <a:xfrm rot="0">
            <a:off x="82772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S7</a:t>
            </a:r>
          </a:p>
        </p:txBody>
      </p:sp>
      <p:grpSp>
        <p:nvGrpSpPr>
          <p:cNvPr name="Group 49" id="49"/>
          <p:cNvGrpSpPr/>
          <p:nvPr/>
        </p:nvGrpSpPr>
        <p:grpSpPr>
          <a:xfrm rot="0">
            <a:off x="9201150" y="2190750"/>
            <a:ext cx="914400" cy="381000"/>
            <a:chOff x="0" y="0"/>
            <a:chExt cx="1219200" cy="508000"/>
          </a:xfrm>
        </p:grpSpPr>
        <p:sp>
          <p:nvSpPr>
            <p:cNvPr name="Freeform 50" id="50"/>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51" id="51"/>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52" id="52"/>
          <p:cNvSpPr txBox="true"/>
          <p:nvPr/>
        </p:nvSpPr>
        <p:spPr>
          <a:xfrm rot="0">
            <a:off x="92106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S8</a:t>
            </a:r>
          </a:p>
        </p:txBody>
      </p:sp>
      <p:grpSp>
        <p:nvGrpSpPr>
          <p:cNvPr name="Group 53" id="53"/>
          <p:cNvGrpSpPr/>
          <p:nvPr/>
        </p:nvGrpSpPr>
        <p:grpSpPr>
          <a:xfrm rot="0">
            <a:off x="10134600" y="2190750"/>
            <a:ext cx="914400" cy="381000"/>
            <a:chOff x="0" y="0"/>
            <a:chExt cx="1219200" cy="508000"/>
          </a:xfrm>
        </p:grpSpPr>
        <p:sp>
          <p:nvSpPr>
            <p:cNvPr name="Freeform 54" id="54"/>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55" id="55"/>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56" id="56"/>
          <p:cNvSpPr txBox="true"/>
          <p:nvPr/>
        </p:nvSpPr>
        <p:spPr>
          <a:xfrm rot="0">
            <a:off x="101441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S9</a:t>
            </a:r>
          </a:p>
        </p:txBody>
      </p:sp>
      <p:grpSp>
        <p:nvGrpSpPr>
          <p:cNvPr name="Group 57" id="57"/>
          <p:cNvGrpSpPr/>
          <p:nvPr/>
        </p:nvGrpSpPr>
        <p:grpSpPr>
          <a:xfrm rot="0">
            <a:off x="11068050" y="2190750"/>
            <a:ext cx="914400" cy="381000"/>
            <a:chOff x="0" y="0"/>
            <a:chExt cx="1219200" cy="508000"/>
          </a:xfrm>
        </p:grpSpPr>
        <p:sp>
          <p:nvSpPr>
            <p:cNvPr name="Freeform 58" id="58"/>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59" id="59"/>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60" id="60"/>
          <p:cNvSpPr txBox="true"/>
          <p:nvPr/>
        </p:nvSpPr>
        <p:spPr>
          <a:xfrm rot="0">
            <a:off x="110775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S10</a:t>
            </a:r>
          </a:p>
        </p:txBody>
      </p:sp>
      <p:grpSp>
        <p:nvGrpSpPr>
          <p:cNvPr name="Group 61" id="61"/>
          <p:cNvGrpSpPr/>
          <p:nvPr/>
        </p:nvGrpSpPr>
        <p:grpSpPr>
          <a:xfrm rot="0">
            <a:off x="12001500" y="2190750"/>
            <a:ext cx="914400" cy="381000"/>
            <a:chOff x="0" y="0"/>
            <a:chExt cx="1219200" cy="508000"/>
          </a:xfrm>
        </p:grpSpPr>
        <p:sp>
          <p:nvSpPr>
            <p:cNvPr name="Freeform 62" id="62"/>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63" id="63"/>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64" id="64"/>
          <p:cNvSpPr txBox="true"/>
          <p:nvPr/>
        </p:nvSpPr>
        <p:spPr>
          <a:xfrm rot="0">
            <a:off x="120110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S11</a:t>
            </a:r>
          </a:p>
        </p:txBody>
      </p:sp>
      <p:grpSp>
        <p:nvGrpSpPr>
          <p:cNvPr name="Group 65" id="65"/>
          <p:cNvGrpSpPr/>
          <p:nvPr/>
        </p:nvGrpSpPr>
        <p:grpSpPr>
          <a:xfrm rot="0">
            <a:off x="12934950" y="2190750"/>
            <a:ext cx="914400" cy="381000"/>
            <a:chOff x="0" y="0"/>
            <a:chExt cx="1219200" cy="508000"/>
          </a:xfrm>
        </p:grpSpPr>
        <p:sp>
          <p:nvSpPr>
            <p:cNvPr name="Freeform 66" id="66"/>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67" id="67"/>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68" id="68"/>
          <p:cNvSpPr txBox="true"/>
          <p:nvPr/>
        </p:nvSpPr>
        <p:spPr>
          <a:xfrm rot="0">
            <a:off x="129444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S12</a:t>
            </a:r>
          </a:p>
        </p:txBody>
      </p:sp>
      <p:grpSp>
        <p:nvGrpSpPr>
          <p:cNvPr name="Group 69" id="69"/>
          <p:cNvGrpSpPr/>
          <p:nvPr/>
        </p:nvGrpSpPr>
        <p:grpSpPr>
          <a:xfrm rot="0">
            <a:off x="13868400" y="2190750"/>
            <a:ext cx="914400" cy="381000"/>
            <a:chOff x="0" y="0"/>
            <a:chExt cx="1219200" cy="508000"/>
          </a:xfrm>
        </p:grpSpPr>
        <p:sp>
          <p:nvSpPr>
            <p:cNvPr name="Freeform 70" id="70"/>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71" id="71"/>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72" id="72"/>
          <p:cNvSpPr txBox="true"/>
          <p:nvPr/>
        </p:nvSpPr>
        <p:spPr>
          <a:xfrm rot="0">
            <a:off x="138779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S13</a:t>
            </a:r>
          </a:p>
        </p:txBody>
      </p:sp>
      <p:grpSp>
        <p:nvGrpSpPr>
          <p:cNvPr name="Group 73" id="73"/>
          <p:cNvGrpSpPr/>
          <p:nvPr/>
        </p:nvGrpSpPr>
        <p:grpSpPr>
          <a:xfrm rot="0">
            <a:off x="14801850" y="2190750"/>
            <a:ext cx="914400" cy="381000"/>
            <a:chOff x="0" y="0"/>
            <a:chExt cx="1219200" cy="508000"/>
          </a:xfrm>
        </p:grpSpPr>
        <p:sp>
          <p:nvSpPr>
            <p:cNvPr name="Freeform 74" id="74"/>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75" id="75"/>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76" id="76"/>
          <p:cNvSpPr txBox="true"/>
          <p:nvPr/>
        </p:nvSpPr>
        <p:spPr>
          <a:xfrm rot="0">
            <a:off x="148113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S14</a:t>
            </a:r>
          </a:p>
        </p:txBody>
      </p:sp>
      <p:grpSp>
        <p:nvGrpSpPr>
          <p:cNvPr name="Group 77" id="77"/>
          <p:cNvGrpSpPr/>
          <p:nvPr/>
        </p:nvGrpSpPr>
        <p:grpSpPr>
          <a:xfrm rot="0">
            <a:off x="15735300" y="2190750"/>
            <a:ext cx="914400" cy="381000"/>
            <a:chOff x="0" y="0"/>
            <a:chExt cx="1219200" cy="508000"/>
          </a:xfrm>
        </p:grpSpPr>
        <p:sp>
          <p:nvSpPr>
            <p:cNvPr name="Freeform 78" id="78"/>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79" id="79"/>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80" id="80"/>
          <p:cNvSpPr txBox="true"/>
          <p:nvPr/>
        </p:nvSpPr>
        <p:spPr>
          <a:xfrm rot="0">
            <a:off x="1574482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S15</a:t>
            </a:r>
          </a:p>
        </p:txBody>
      </p:sp>
      <p:grpSp>
        <p:nvGrpSpPr>
          <p:cNvPr name="Group 81" id="81"/>
          <p:cNvGrpSpPr/>
          <p:nvPr/>
        </p:nvGrpSpPr>
        <p:grpSpPr>
          <a:xfrm rot="0">
            <a:off x="16668750" y="2190750"/>
            <a:ext cx="914400" cy="381000"/>
            <a:chOff x="0" y="0"/>
            <a:chExt cx="1219200" cy="508000"/>
          </a:xfrm>
        </p:grpSpPr>
        <p:sp>
          <p:nvSpPr>
            <p:cNvPr name="Freeform 82" id="82"/>
            <p:cNvSpPr/>
            <p:nvPr/>
          </p:nvSpPr>
          <p:spPr>
            <a:xfrm flipH="false" flipV="false" rot="0">
              <a:off x="0" y="0"/>
              <a:ext cx="1219200" cy="508000"/>
            </a:xfrm>
            <a:custGeom>
              <a:avLst/>
              <a:gdLst/>
              <a:ahLst/>
              <a:cxnLst/>
              <a:rect r="r" b="b" t="t" l="l"/>
              <a:pathLst>
                <a:path h="508000" w="1219200">
                  <a:moveTo>
                    <a:pt x="0" y="0"/>
                  </a:moveTo>
                  <a:lnTo>
                    <a:pt x="1219200" y="0"/>
                  </a:lnTo>
                  <a:lnTo>
                    <a:pt x="1219200" y="508000"/>
                  </a:lnTo>
                  <a:lnTo>
                    <a:pt x="0" y="508000"/>
                  </a:lnTo>
                  <a:close/>
                </a:path>
              </a:pathLst>
            </a:custGeom>
            <a:solidFill>
              <a:srgbClr val="333333"/>
            </a:solidFill>
          </p:spPr>
        </p:sp>
        <p:sp>
          <p:nvSpPr>
            <p:cNvPr name="TextBox 83" id="83"/>
            <p:cNvSpPr txBox="true"/>
            <p:nvPr/>
          </p:nvSpPr>
          <p:spPr>
            <a:xfrm>
              <a:off x="0" y="-38100"/>
              <a:ext cx="1219200" cy="546100"/>
            </a:xfrm>
            <a:prstGeom prst="rect">
              <a:avLst/>
            </a:prstGeom>
          </p:spPr>
          <p:txBody>
            <a:bodyPr anchor="ctr" rtlCol="false" tIns="50800" lIns="50800" bIns="50800" rIns="50800"/>
            <a:lstStyle/>
            <a:p>
              <a:pPr algn="l">
                <a:lnSpc>
                  <a:spcPts val="1679"/>
                </a:lnSpc>
              </a:pPr>
            </a:p>
          </p:txBody>
        </p:sp>
      </p:grpSp>
      <p:sp>
        <p:nvSpPr>
          <p:cNvPr name="TextBox 84" id="84"/>
          <p:cNvSpPr txBox="true"/>
          <p:nvPr/>
        </p:nvSpPr>
        <p:spPr>
          <a:xfrm rot="0">
            <a:off x="16678275" y="2114550"/>
            <a:ext cx="914400" cy="450449"/>
          </a:xfrm>
          <a:prstGeom prst="rect">
            <a:avLst/>
          </a:prstGeom>
        </p:spPr>
        <p:txBody>
          <a:bodyPr anchor="t" rtlCol="false" tIns="0" lIns="0" bIns="0" rIns="0">
            <a:spAutoFit/>
          </a:bodyPr>
          <a:lstStyle/>
          <a:p>
            <a:pPr algn="ctr">
              <a:lnSpc>
                <a:spcPts val="3522"/>
              </a:lnSpc>
            </a:pPr>
            <a:r>
              <a:rPr lang="en-US" sz="2515">
                <a:solidFill>
                  <a:srgbClr val="F8F8F8"/>
                </a:solidFill>
                <a:latin typeface="Poppins"/>
                <a:ea typeface="Poppins"/>
                <a:cs typeface="Poppins"/>
                <a:sym typeface="Poppins"/>
              </a:rPr>
              <a:t>S16</a:t>
            </a:r>
          </a:p>
        </p:txBody>
      </p:sp>
      <p:sp>
        <p:nvSpPr>
          <p:cNvPr name="TextBox 85" id="85"/>
          <p:cNvSpPr txBox="true"/>
          <p:nvPr/>
        </p:nvSpPr>
        <p:spPr>
          <a:xfrm rot="0">
            <a:off x="762000" y="2733675"/>
            <a:ext cx="1714500" cy="557946"/>
          </a:xfrm>
          <a:prstGeom prst="rect">
            <a:avLst/>
          </a:prstGeom>
        </p:spPr>
        <p:txBody>
          <a:bodyPr anchor="t" rtlCol="false" tIns="0" lIns="0" bIns="0" rIns="0">
            <a:spAutoFit/>
          </a:bodyPr>
          <a:lstStyle/>
          <a:p>
            <a:pPr algn="l">
              <a:lnSpc>
                <a:spcPts val="4422"/>
              </a:lnSpc>
            </a:pPr>
            <a:r>
              <a:rPr lang="en-US" b="true" sz="3158">
                <a:solidFill>
                  <a:srgbClr val="F8F8F8"/>
                </a:solidFill>
                <a:latin typeface="Poppins Bold"/>
                <a:ea typeface="Poppins Bold"/>
                <a:cs typeface="Poppins Bold"/>
                <a:sym typeface="Poppins Bold"/>
              </a:rPr>
              <a:t>Sprint 1</a:t>
            </a:r>
          </a:p>
        </p:txBody>
      </p:sp>
      <p:grpSp>
        <p:nvGrpSpPr>
          <p:cNvPr name="Group 86" id="86"/>
          <p:cNvGrpSpPr/>
          <p:nvPr/>
        </p:nvGrpSpPr>
        <p:grpSpPr>
          <a:xfrm rot="0">
            <a:off x="2667000" y="2819400"/>
            <a:ext cx="2781300" cy="476250"/>
            <a:chOff x="0" y="0"/>
            <a:chExt cx="3708400" cy="635000"/>
          </a:xfrm>
        </p:grpSpPr>
        <p:sp>
          <p:nvSpPr>
            <p:cNvPr name="Freeform 87" id="87"/>
            <p:cNvSpPr/>
            <p:nvPr/>
          </p:nvSpPr>
          <p:spPr>
            <a:xfrm flipH="false" flipV="false" rot="0">
              <a:off x="0" y="0"/>
              <a:ext cx="3708400" cy="635000"/>
            </a:xfrm>
            <a:custGeom>
              <a:avLst/>
              <a:gdLst/>
              <a:ahLst/>
              <a:cxnLst/>
              <a:rect r="r" b="b" t="t" l="l"/>
              <a:pathLst>
                <a:path h="635000" w="3708400">
                  <a:moveTo>
                    <a:pt x="63500" y="0"/>
                  </a:moveTo>
                  <a:lnTo>
                    <a:pt x="3644900" y="0"/>
                  </a:lnTo>
                  <a:cubicBezTo>
                    <a:pt x="3679970" y="0"/>
                    <a:pt x="3708400" y="28430"/>
                    <a:pt x="3708400" y="63500"/>
                  </a:cubicBezTo>
                  <a:lnTo>
                    <a:pt x="3708400" y="571500"/>
                  </a:lnTo>
                  <a:cubicBezTo>
                    <a:pt x="3708400" y="606570"/>
                    <a:pt x="3679970" y="635000"/>
                    <a:pt x="3644900" y="635000"/>
                  </a:cubicBezTo>
                  <a:lnTo>
                    <a:pt x="63500" y="635000"/>
                  </a:lnTo>
                  <a:cubicBezTo>
                    <a:pt x="28430" y="635000"/>
                    <a:pt x="0" y="606570"/>
                    <a:pt x="0" y="571500"/>
                  </a:cubicBezTo>
                  <a:lnTo>
                    <a:pt x="0" y="63500"/>
                  </a:lnTo>
                  <a:cubicBezTo>
                    <a:pt x="0" y="28430"/>
                    <a:pt x="28430" y="0"/>
                    <a:pt x="63500" y="0"/>
                  </a:cubicBezTo>
                  <a:close/>
                </a:path>
              </a:pathLst>
            </a:custGeom>
            <a:solidFill>
              <a:srgbClr val="2196F3"/>
            </a:solidFill>
          </p:spPr>
        </p:sp>
        <p:sp>
          <p:nvSpPr>
            <p:cNvPr name="TextBox 88" id="88"/>
            <p:cNvSpPr txBox="true"/>
            <p:nvPr/>
          </p:nvSpPr>
          <p:spPr>
            <a:xfrm>
              <a:off x="0" y="-38100"/>
              <a:ext cx="3708400" cy="673100"/>
            </a:xfrm>
            <a:prstGeom prst="rect">
              <a:avLst/>
            </a:prstGeom>
          </p:spPr>
          <p:txBody>
            <a:bodyPr anchor="ctr" rtlCol="false" tIns="50800" lIns="50800" bIns="50800" rIns="50800"/>
            <a:lstStyle/>
            <a:p>
              <a:pPr algn="l">
                <a:lnSpc>
                  <a:spcPts val="1679"/>
                </a:lnSpc>
              </a:pPr>
            </a:p>
          </p:txBody>
        </p:sp>
      </p:grpSp>
      <p:sp>
        <p:nvSpPr>
          <p:cNvPr name="TextBox 89" id="89"/>
          <p:cNvSpPr txBox="true"/>
          <p:nvPr/>
        </p:nvSpPr>
        <p:spPr>
          <a:xfrm rot="0">
            <a:off x="2667000" y="2733675"/>
            <a:ext cx="2781300" cy="557946"/>
          </a:xfrm>
          <a:prstGeom prst="rect">
            <a:avLst/>
          </a:prstGeom>
        </p:spPr>
        <p:txBody>
          <a:bodyPr anchor="t" rtlCol="false" tIns="0" lIns="0" bIns="0" rIns="0">
            <a:spAutoFit/>
          </a:bodyPr>
          <a:lstStyle/>
          <a:p>
            <a:pPr algn="ctr">
              <a:lnSpc>
                <a:spcPts val="4422"/>
              </a:lnSpc>
            </a:pPr>
            <a:r>
              <a:rPr lang="en-US" b="true" sz="3158">
                <a:solidFill>
                  <a:srgbClr val="F8F8F8"/>
                </a:solidFill>
                <a:latin typeface="Poppins Bold"/>
                <a:ea typeface="Poppins Bold"/>
                <a:cs typeface="Poppins Bold"/>
                <a:sym typeface="Poppins Bold"/>
              </a:rPr>
              <a:t>3 semanas</a:t>
            </a:r>
          </a:p>
        </p:txBody>
      </p:sp>
      <p:sp>
        <p:nvSpPr>
          <p:cNvPr name="TextBox 90" id="90"/>
          <p:cNvSpPr txBox="true"/>
          <p:nvPr/>
        </p:nvSpPr>
        <p:spPr>
          <a:xfrm rot="0">
            <a:off x="762000" y="3362325"/>
            <a:ext cx="1714500" cy="557946"/>
          </a:xfrm>
          <a:prstGeom prst="rect">
            <a:avLst/>
          </a:prstGeom>
        </p:spPr>
        <p:txBody>
          <a:bodyPr anchor="t" rtlCol="false" tIns="0" lIns="0" bIns="0" rIns="0">
            <a:spAutoFit/>
          </a:bodyPr>
          <a:lstStyle/>
          <a:p>
            <a:pPr algn="l">
              <a:lnSpc>
                <a:spcPts val="4422"/>
              </a:lnSpc>
            </a:pPr>
            <a:r>
              <a:rPr lang="en-US" b="true" sz="3158">
                <a:solidFill>
                  <a:srgbClr val="F8F8F8"/>
                </a:solidFill>
                <a:latin typeface="Poppins Bold"/>
                <a:ea typeface="Poppins Bold"/>
                <a:cs typeface="Poppins Bold"/>
                <a:sym typeface="Poppins Bold"/>
              </a:rPr>
              <a:t>Sprint 2</a:t>
            </a:r>
          </a:p>
        </p:txBody>
      </p:sp>
      <p:grpSp>
        <p:nvGrpSpPr>
          <p:cNvPr name="Group 91" id="91"/>
          <p:cNvGrpSpPr/>
          <p:nvPr/>
        </p:nvGrpSpPr>
        <p:grpSpPr>
          <a:xfrm rot="0">
            <a:off x="5467350" y="3448050"/>
            <a:ext cx="4648200" cy="476250"/>
            <a:chOff x="0" y="0"/>
            <a:chExt cx="6197600" cy="635000"/>
          </a:xfrm>
        </p:grpSpPr>
        <p:sp>
          <p:nvSpPr>
            <p:cNvPr name="Freeform 92" id="92"/>
            <p:cNvSpPr/>
            <p:nvPr/>
          </p:nvSpPr>
          <p:spPr>
            <a:xfrm flipH="false" flipV="false" rot="0">
              <a:off x="0" y="0"/>
              <a:ext cx="6197600" cy="635000"/>
            </a:xfrm>
            <a:custGeom>
              <a:avLst/>
              <a:gdLst/>
              <a:ahLst/>
              <a:cxnLst/>
              <a:rect r="r" b="b" t="t" l="l"/>
              <a:pathLst>
                <a:path h="635000" w="6197600">
                  <a:moveTo>
                    <a:pt x="63500" y="0"/>
                  </a:moveTo>
                  <a:lnTo>
                    <a:pt x="6134100" y="0"/>
                  </a:lnTo>
                  <a:cubicBezTo>
                    <a:pt x="6169170" y="0"/>
                    <a:pt x="6197600" y="28430"/>
                    <a:pt x="6197600" y="63500"/>
                  </a:cubicBezTo>
                  <a:lnTo>
                    <a:pt x="6197600" y="571500"/>
                  </a:lnTo>
                  <a:cubicBezTo>
                    <a:pt x="6197600" y="606570"/>
                    <a:pt x="6169170" y="635000"/>
                    <a:pt x="6134100" y="635000"/>
                  </a:cubicBezTo>
                  <a:lnTo>
                    <a:pt x="63500" y="635000"/>
                  </a:lnTo>
                  <a:cubicBezTo>
                    <a:pt x="28430" y="635000"/>
                    <a:pt x="0" y="606570"/>
                    <a:pt x="0" y="571500"/>
                  </a:cubicBezTo>
                  <a:lnTo>
                    <a:pt x="0" y="63500"/>
                  </a:lnTo>
                  <a:cubicBezTo>
                    <a:pt x="0" y="28430"/>
                    <a:pt x="28430" y="0"/>
                    <a:pt x="63500" y="0"/>
                  </a:cubicBezTo>
                  <a:close/>
                </a:path>
              </a:pathLst>
            </a:custGeom>
            <a:solidFill>
              <a:srgbClr val="4CAF50"/>
            </a:solidFill>
          </p:spPr>
        </p:sp>
        <p:sp>
          <p:nvSpPr>
            <p:cNvPr name="TextBox 93" id="93"/>
            <p:cNvSpPr txBox="true"/>
            <p:nvPr/>
          </p:nvSpPr>
          <p:spPr>
            <a:xfrm>
              <a:off x="0" y="-38100"/>
              <a:ext cx="6197600" cy="673100"/>
            </a:xfrm>
            <a:prstGeom prst="rect">
              <a:avLst/>
            </a:prstGeom>
          </p:spPr>
          <p:txBody>
            <a:bodyPr anchor="ctr" rtlCol="false" tIns="50800" lIns="50800" bIns="50800" rIns="50800"/>
            <a:lstStyle/>
            <a:p>
              <a:pPr algn="l">
                <a:lnSpc>
                  <a:spcPts val="1679"/>
                </a:lnSpc>
              </a:pPr>
            </a:p>
          </p:txBody>
        </p:sp>
      </p:grpSp>
      <p:sp>
        <p:nvSpPr>
          <p:cNvPr name="TextBox 94" id="94"/>
          <p:cNvSpPr txBox="true"/>
          <p:nvPr/>
        </p:nvSpPr>
        <p:spPr>
          <a:xfrm rot="0">
            <a:off x="5467350" y="3362325"/>
            <a:ext cx="4648200" cy="557946"/>
          </a:xfrm>
          <a:prstGeom prst="rect">
            <a:avLst/>
          </a:prstGeom>
        </p:spPr>
        <p:txBody>
          <a:bodyPr anchor="t" rtlCol="false" tIns="0" lIns="0" bIns="0" rIns="0">
            <a:spAutoFit/>
          </a:bodyPr>
          <a:lstStyle/>
          <a:p>
            <a:pPr algn="ctr">
              <a:lnSpc>
                <a:spcPts val="4422"/>
              </a:lnSpc>
            </a:pPr>
            <a:r>
              <a:rPr lang="en-US" b="true" sz="3158">
                <a:solidFill>
                  <a:srgbClr val="F8F8F8"/>
                </a:solidFill>
                <a:latin typeface="Poppins Bold"/>
                <a:ea typeface="Poppins Bold"/>
                <a:cs typeface="Poppins Bold"/>
                <a:sym typeface="Poppins Bold"/>
              </a:rPr>
              <a:t>5 semanas</a:t>
            </a:r>
          </a:p>
        </p:txBody>
      </p:sp>
      <p:sp>
        <p:nvSpPr>
          <p:cNvPr name="TextBox 95" id="95"/>
          <p:cNvSpPr txBox="true"/>
          <p:nvPr/>
        </p:nvSpPr>
        <p:spPr>
          <a:xfrm rot="0">
            <a:off x="762000" y="3990975"/>
            <a:ext cx="1714500" cy="557946"/>
          </a:xfrm>
          <a:prstGeom prst="rect">
            <a:avLst/>
          </a:prstGeom>
        </p:spPr>
        <p:txBody>
          <a:bodyPr anchor="t" rtlCol="false" tIns="0" lIns="0" bIns="0" rIns="0">
            <a:spAutoFit/>
          </a:bodyPr>
          <a:lstStyle/>
          <a:p>
            <a:pPr algn="l">
              <a:lnSpc>
                <a:spcPts val="4422"/>
              </a:lnSpc>
            </a:pPr>
            <a:r>
              <a:rPr lang="en-US" b="true" sz="3158">
                <a:solidFill>
                  <a:srgbClr val="F8F8F8"/>
                </a:solidFill>
                <a:latin typeface="Poppins Bold"/>
                <a:ea typeface="Poppins Bold"/>
                <a:cs typeface="Poppins Bold"/>
                <a:sym typeface="Poppins Bold"/>
              </a:rPr>
              <a:t>Sprint 3</a:t>
            </a:r>
          </a:p>
        </p:txBody>
      </p:sp>
      <p:grpSp>
        <p:nvGrpSpPr>
          <p:cNvPr name="Group 96" id="96"/>
          <p:cNvGrpSpPr/>
          <p:nvPr/>
        </p:nvGrpSpPr>
        <p:grpSpPr>
          <a:xfrm rot="0">
            <a:off x="10134600" y="4076700"/>
            <a:ext cx="3714750" cy="476250"/>
            <a:chOff x="0" y="0"/>
            <a:chExt cx="4953000" cy="635000"/>
          </a:xfrm>
        </p:grpSpPr>
        <p:sp>
          <p:nvSpPr>
            <p:cNvPr name="Freeform 97" id="97"/>
            <p:cNvSpPr/>
            <p:nvPr/>
          </p:nvSpPr>
          <p:spPr>
            <a:xfrm flipH="false" flipV="false" rot="0">
              <a:off x="0" y="0"/>
              <a:ext cx="4953000" cy="635000"/>
            </a:xfrm>
            <a:custGeom>
              <a:avLst/>
              <a:gdLst/>
              <a:ahLst/>
              <a:cxnLst/>
              <a:rect r="r" b="b" t="t" l="l"/>
              <a:pathLst>
                <a:path h="635000" w="4953000">
                  <a:moveTo>
                    <a:pt x="63500" y="0"/>
                  </a:moveTo>
                  <a:lnTo>
                    <a:pt x="4889500" y="0"/>
                  </a:lnTo>
                  <a:cubicBezTo>
                    <a:pt x="4924570" y="0"/>
                    <a:pt x="4953000" y="28430"/>
                    <a:pt x="4953000" y="63500"/>
                  </a:cubicBezTo>
                  <a:lnTo>
                    <a:pt x="4953000" y="571500"/>
                  </a:lnTo>
                  <a:cubicBezTo>
                    <a:pt x="4953000" y="606570"/>
                    <a:pt x="4924570" y="635000"/>
                    <a:pt x="4889500" y="635000"/>
                  </a:cubicBezTo>
                  <a:lnTo>
                    <a:pt x="63500" y="635000"/>
                  </a:lnTo>
                  <a:cubicBezTo>
                    <a:pt x="28430" y="635000"/>
                    <a:pt x="0" y="606570"/>
                    <a:pt x="0" y="571500"/>
                  </a:cubicBezTo>
                  <a:lnTo>
                    <a:pt x="0" y="63500"/>
                  </a:lnTo>
                  <a:cubicBezTo>
                    <a:pt x="0" y="28430"/>
                    <a:pt x="28430" y="0"/>
                    <a:pt x="63500" y="0"/>
                  </a:cubicBezTo>
                  <a:close/>
                </a:path>
              </a:pathLst>
            </a:custGeom>
            <a:solidFill>
              <a:srgbClr val="FF9800"/>
            </a:solidFill>
          </p:spPr>
        </p:sp>
        <p:sp>
          <p:nvSpPr>
            <p:cNvPr name="TextBox 98" id="98"/>
            <p:cNvSpPr txBox="true"/>
            <p:nvPr/>
          </p:nvSpPr>
          <p:spPr>
            <a:xfrm>
              <a:off x="0" y="-38100"/>
              <a:ext cx="4953000" cy="673100"/>
            </a:xfrm>
            <a:prstGeom prst="rect">
              <a:avLst/>
            </a:prstGeom>
          </p:spPr>
          <p:txBody>
            <a:bodyPr anchor="ctr" rtlCol="false" tIns="50800" lIns="50800" bIns="50800" rIns="50800"/>
            <a:lstStyle/>
            <a:p>
              <a:pPr algn="l">
                <a:lnSpc>
                  <a:spcPts val="1679"/>
                </a:lnSpc>
              </a:pPr>
            </a:p>
          </p:txBody>
        </p:sp>
      </p:grpSp>
      <p:sp>
        <p:nvSpPr>
          <p:cNvPr name="TextBox 99" id="99"/>
          <p:cNvSpPr txBox="true"/>
          <p:nvPr/>
        </p:nvSpPr>
        <p:spPr>
          <a:xfrm rot="0">
            <a:off x="10134600" y="3990975"/>
            <a:ext cx="3714750" cy="557946"/>
          </a:xfrm>
          <a:prstGeom prst="rect">
            <a:avLst/>
          </a:prstGeom>
        </p:spPr>
        <p:txBody>
          <a:bodyPr anchor="t" rtlCol="false" tIns="0" lIns="0" bIns="0" rIns="0">
            <a:spAutoFit/>
          </a:bodyPr>
          <a:lstStyle/>
          <a:p>
            <a:pPr algn="ctr">
              <a:lnSpc>
                <a:spcPts val="4422"/>
              </a:lnSpc>
            </a:pPr>
            <a:r>
              <a:rPr lang="en-US" b="true" sz="3158">
                <a:solidFill>
                  <a:srgbClr val="F8F8F8"/>
                </a:solidFill>
                <a:latin typeface="Poppins Bold"/>
                <a:ea typeface="Poppins Bold"/>
                <a:cs typeface="Poppins Bold"/>
                <a:sym typeface="Poppins Bold"/>
              </a:rPr>
              <a:t>4 semanas</a:t>
            </a:r>
          </a:p>
        </p:txBody>
      </p:sp>
      <p:sp>
        <p:nvSpPr>
          <p:cNvPr name="TextBox 100" id="100"/>
          <p:cNvSpPr txBox="true"/>
          <p:nvPr/>
        </p:nvSpPr>
        <p:spPr>
          <a:xfrm rot="0">
            <a:off x="762000" y="4619625"/>
            <a:ext cx="1714500" cy="557946"/>
          </a:xfrm>
          <a:prstGeom prst="rect">
            <a:avLst/>
          </a:prstGeom>
        </p:spPr>
        <p:txBody>
          <a:bodyPr anchor="t" rtlCol="false" tIns="0" lIns="0" bIns="0" rIns="0">
            <a:spAutoFit/>
          </a:bodyPr>
          <a:lstStyle/>
          <a:p>
            <a:pPr algn="l">
              <a:lnSpc>
                <a:spcPts val="4422"/>
              </a:lnSpc>
            </a:pPr>
            <a:r>
              <a:rPr lang="en-US" b="true" sz="3158">
                <a:solidFill>
                  <a:srgbClr val="F8F8F8"/>
                </a:solidFill>
                <a:latin typeface="Poppins Bold"/>
                <a:ea typeface="Poppins Bold"/>
                <a:cs typeface="Poppins Bold"/>
                <a:sym typeface="Poppins Bold"/>
              </a:rPr>
              <a:t>Sprint 4</a:t>
            </a:r>
          </a:p>
        </p:txBody>
      </p:sp>
      <p:grpSp>
        <p:nvGrpSpPr>
          <p:cNvPr name="Group 101" id="101"/>
          <p:cNvGrpSpPr/>
          <p:nvPr/>
        </p:nvGrpSpPr>
        <p:grpSpPr>
          <a:xfrm rot="0">
            <a:off x="13868400" y="4705350"/>
            <a:ext cx="3714750" cy="476250"/>
            <a:chOff x="0" y="0"/>
            <a:chExt cx="4953000" cy="635000"/>
          </a:xfrm>
        </p:grpSpPr>
        <p:sp>
          <p:nvSpPr>
            <p:cNvPr name="Freeform 102" id="102"/>
            <p:cNvSpPr/>
            <p:nvPr/>
          </p:nvSpPr>
          <p:spPr>
            <a:xfrm flipH="false" flipV="false" rot="0">
              <a:off x="0" y="0"/>
              <a:ext cx="4953000" cy="635000"/>
            </a:xfrm>
            <a:custGeom>
              <a:avLst/>
              <a:gdLst/>
              <a:ahLst/>
              <a:cxnLst/>
              <a:rect r="r" b="b" t="t" l="l"/>
              <a:pathLst>
                <a:path h="635000" w="4953000">
                  <a:moveTo>
                    <a:pt x="63500" y="0"/>
                  </a:moveTo>
                  <a:lnTo>
                    <a:pt x="4889500" y="0"/>
                  </a:lnTo>
                  <a:cubicBezTo>
                    <a:pt x="4924570" y="0"/>
                    <a:pt x="4953000" y="28430"/>
                    <a:pt x="4953000" y="63500"/>
                  </a:cubicBezTo>
                  <a:lnTo>
                    <a:pt x="4953000" y="571500"/>
                  </a:lnTo>
                  <a:cubicBezTo>
                    <a:pt x="4953000" y="606570"/>
                    <a:pt x="4924570" y="635000"/>
                    <a:pt x="4889500" y="635000"/>
                  </a:cubicBezTo>
                  <a:lnTo>
                    <a:pt x="63500" y="635000"/>
                  </a:lnTo>
                  <a:cubicBezTo>
                    <a:pt x="28430" y="635000"/>
                    <a:pt x="0" y="606570"/>
                    <a:pt x="0" y="571500"/>
                  </a:cubicBezTo>
                  <a:lnTo>
                    <a:pt x="0" y="63500"/>
                  </a:lnTo>
                  <a:cubicBezTo>
                    <a:pt x="0" y="28430"/>
                    <a:pt x="28430" y="0"/>
                    <a:pt x="63500" y="0"/>
                  </a:cubicBezTo>
                  <a:close/>
                </a:path>
              </a:pathLst>
            </a:custGeom>
            <a:solidFill>
              <a:srgbClr val="E91E63"/>
            </a:solidFill>
          </p:spPr>
        </p:sp>
        <p:sp>
          <p:nvSpPr>
            <p:cNvPr name="TextBox 103" id="103"/>
            <p:cNvSpPr txBox="true"/>
            <p:nvPr/>
          </p:nvSpPr>
          <p:spPr>
            <a:xfrm>
              <a:off x="0" y="-38100"/>
              <a:ext cx="4953000" cy="673100"/>
            </a:xfrm>
            <a:prstGeom prst="rect">
              <a:avLst/>
            </a:prstGeom>
          </p:spPr>
          <p:txBody>
            <a:bodyPr anchor="ctr" rtlCol="false" tIns="50800" lIns="50800" bIns="50800" rIns="50800"/>
            <a:lstStyle/>
            <a:p>
              <a:pPr algn="l">
                <a:lnSpc>
                  <a:spcPts val="1679"/>
                </a:lnSpc>
              </a:pPr>
            </a:p>
          </p:txBody>
        </p:sp>
      </p:grpSp>
      <p:sp>
        <p:nvSpPr>
          <p:cNvPr name="TextBox 104" id="104"/>
          <p:cNvSpPr txBox="true"/>
          <p:nvPr/>
        </p:nvSpPr>
        <p:spPr>
          <a:xfrm rot="0">
            <a:off x="13868400" y="4619625"/>
            <a:ext cx="3714750" cy="557946"/>
          </a:xfrm>
          <a:prstGeom prst="rect">
            <a:avLst/>
          </a:prstGeom>
        </p:spPr>
        <p:txBody>
          <a:bodyPr anchor="t" rtlCol="false" tIns="0" lIns="0" bIns="0" rIns="0">
            <a:spAutoFit/>
          </a:bodyPr>
          <a:lstStyle/>
          <a:p>
            <a:pPr algn="ctr">
              <a:lnSpc>
                <a:spcPts val="4422"/>
              </a:lnSpc>
            </a:pPr>
            <a:r>
              <a:rPr lang="en-US" b="true" sz="3158">
                <a:solidFill>
                  <a:srgbClr val="F8F8F8"/>
                </a:solidFill>
                <a:latin typeface="Poppins Bold"/>
                <a:ea typeface="Poppins Bold"/>
                <a:cs typeface="Poppins Bold"/>
                <a:sym typeface="Poppins Bold"/>
              </a:rPr>
              <a:t>4 semanas</a:t>
            </a:r>
          </a:p>
        </p:txBody>
      </p:sp>
      <p:sp>
        <p:nvSpPr>
          <p:cNvPr name="TextBox 105" id="105"/>
          <p:cNvSpPr txBox="true"/>
          <p:nvPr/>
        </p:nvSpPr>
        <p:spPr>
          <a:xfrm rot="0">
            <a:off x="6286500" y="1571625"/>
            <a:ext cx="5715000" cy="325755"/>
          </a:xfrm>
          <a:prstGeom prst="rect">
            <a:avLst/>
          </a:prstGeom>
        </p:spPr>
        <p:txBody>
          <a:bodyPr anchor="t" rtlCol="false" tIns="0" lIns="0" bIns="0" rIns="0">
            <a:spAutoFit/>
          </a:bodyPr>
          <a:lstStyle/>
          <a:p>
            <a:pPr algn="ctr">
              <a:lnSpc>
                <a:spcPts val="2520"/>
              </a:lnSpc>
            </a:pPr>
            <a:r>
              <a:rPr lang="en-US" sz="1800">
                <a:solidFill>
                  <a:srgbClr val="555555"/>
                </a:solidFill>
                <a:latin typeface="Poppins"/>
                <a:ea typeface="Poppins"/>
                <a:cs typeface="Poppins"/>
                <a:sym typeface="Poppins"/>
              </a:rPr>
              <a:t>Duración total: 16 semanas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647717">
            <a:off x="12097298" y="-1728771"/>
            <a:ext cx="6798973" cy="7642874"/>
          </a:xfrm>
          <a:custGeom>
            <a:avLst/>
            <a:gdLst/>
            <a:ahLst/>
            <a:cxnLst/>
            <a:rect r="r" b="b" t="t" l="l"/>
            <a:pathLst>
              <a:path h="7642874" w="6798973">
                <a:moveTo>
                  <a:pt x="0" y="0"/>
                </a:moveTo>
                <a:lnTo>
                  <a:pt x="6798973" y="0"/>
                </a:lnTo>
                <a:lnTo>
                  <a:pt x="6798973" y="7642874"/>
                </a:lnTo>
                <a:lnTo>
                  <a:pt x="0" y="7642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193727"/>
            <a:ext cx="2615704" cy="2615704"/>
          </a:xfrm>
          <a:custGeom>
            <a:avLst/>
            <a:gdLst/>
            <a:ahLst/>
            <a:cxnLst/>
            <a:rect r="r" b="b" t="t" l="l"/>
            <a:pathLst>
              <a:path h="2615704" w="2615704">
                <a:moveTo>
                  <a:pt x="0" y="0"/>
                </a:moveTo>
                <a:lnTo>
                  <a:pt x="2615704" y="0"/>
                </a:lnTo>
                <a:lnTo>
                  <a:pt x="2615704" y="2615704"/>
                </a:lnTo>
                <a:lnTo>
                  <a:pt x="0" y="2615704"/>
                </a:lnTo>
                <a:lnTo>
                  <a:pt x="0" y="0"/>
                </a:lnTo>
                <a:close/>
              </a:path>
            </a:pathLst>
          </a:custGeom>
          <a:blipFill>
            <a:blip r:embed="rId4"/>
            <a:stretch>
              <a:fillRect l="0" t="0" r="0" b="0"/>
            </a:stretch>
          </a:blipFill>
        </p:spPr>
      </p:sp>
      <p:sp>
        <p:nvSpPr>
          <p:cNvPr name="Freeform 4" id="4"/>
          <p:cNvSpPr/>
          <p:nvPr/>
        </p:nvSpPr>
        <p:spPr>
          <a:xfrm flipH="false" flipV="false" rot="0">
            <a:off x="1028700" y="2746717"/>
            <a:ext cx="2408827" cy="2396783"/>
          </a:xfrm>
          <a:custGeom>
            <a:avLst/>
            <a:gdLst/>
            <a:ahLst/>
            <a:cxnLst/>
            <a:rect r="r" b="b" t="t" l="l"/>
            <a:pathLst>
              <a:path h="2396783" w="2408827">
                <a:moveTo>
                  <a:pt x="0" y="0"/>
                </a:moveTo>
                <a:lnTo>
                  <a:pt x="2408827" y="0"/>
                </a:lnTo>
                <a:lnTo>
                  <a:pt x="2408827" y="2396783"/>
                </a:lnTo>
                <a:lnTo>
                  <a:pt x="0" y="2396783"/>
                </a:lnTo>
                <a:lnTo>
                  <a:pt x="0" y="0"/>
                </a:lnTo>
                <a:close/>
              </a:path>
            </a:pathLst>
          </a:custGeom>
          <a:blipFill>
            <a:blip r:embed="rId5"/>
            <a:stretch>
              <a:fillRect l="0" t="0" r="0" b="0"/>
            </a:stretch>
          </a:blipFill>
        </p:spPr>
      </p:sp>
      <p:sp>
        <p:nvSpPr>
          <p:cNvPr name="Freeform 5" id="5"/>
          <p:cNvSpPr/>
          <p:nvPr/>
        </p:nvSpPr>
        <p:spPr>
          <a:xfrm flipH="false" flipV="false" rot="0">
            <a:off x="4160031" y="4230505"/>
            <a:ext cx="2707893" cy="1963222"/>
          </a:xfrm>
          <a:custGeom>
            <a:avLst/>
            <a:gdLst/>
            <a:ahLst/>
            <a:cxnLst/>
            <a:rect r="r" b="b" t="t" l="l"/>
            <a:pathLst>
              <a:path h="1963222" w="2707893">
                <a:moveTo>
                  <a:pt x="0" y="0"/>
                </a:moveTo>
                <a:lnTo>
                  <a:pt x="2707893" y="0"/>
                </a:lnTo>
                <a:lnTo>
                  <a:pt x="2707893" y="1963222"/>
                </a:lnTo>
                <a:lnTo>
                  <a:pt x="0" y="19632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029442" y="2625849"/>
            <a:ext cx="3911738" cy="2200352"/>
          </a:xfrm>
          <a:custGeom>
            <a:avLst/>
            <a:gdLst/>
            <a:ahLst/>
            <a:cxnLst/>
            <a:rect r="r" b="b" t="t" l="l"/>
            <a:pathLst>
              <a:path h="2200352" w="3911738">
                <a:moveTo>
                  <a:pt x="0" y="0"/>
                </a:moveTo>
                <a:lnTo>
                  <a:pt x="3911737" y="0"/>
                </a:lnTo>
                <a:lnTo>
                  <a:pt x="3911737" y="2200352"/>
                </a:lnTo>
                <a:lnTo>
                  <a:pt x="0" y="2200352"/>
                </a:lnTo>
                <a:lnTo>
                  <a:pt x="0" y="0"/>
                </a:lnTo>
                <a:close/>
              </a:path>
            </a:pathLst>
          </a:custGeom>
          <a:blipFill>
            <a:blip r:embed="rId8"/>
            <a:stretch>
              <a:fillRect l="0" t="0" r="0" b="0"/>
            </a:stretch>
          </a:blipFill>
        </p:spPr>
      </p:sp>
      <p:sp>
        <p:nvSpPr>
          <p:cNvPr name="Freeform 7" id="7"/>
          <p:cNvSpPr/>
          <p:nvPr/>
        </p:nvSpPr>
        <p:spPr>
          <a:xfrm flipH="false" flipV="false" rot="0">
            <a:off x="9847737" y="5143500"/>
            <a:ext cx="6275147" cy="3218310"/>
          </a:xfrm>
          <a:custGeom>
            <a:avLst/>
            <a:gdLst/>
            <a:ahLst/>
            <a:cxnLst/>
            <a:rect r="r" b="b" t="t" l="l"/>
            <a:pathLst>
              <a:path h="3218310" w="6275147">
                <a:moveTo>
                  <a:pt x="0" y="0"/>
                </a:moveTo>
                <a:lnTo>
                  <a:pt x="6275147" y="0"/>
                </a:lnTo>
                <a:lnTo>
                  <a:pt x="6275147" y="3218310"/>
                </a:lnTo>
                <a:lnTo>
                  <a:pt x="0" y="3218310"/>
                </a:lnTo>
                <a:lnTo>
                  <a:pt x="0" y="0"/>
                </a:lnTo>
                <a:close/>
              </a:path>
            </a:pathLst>
          </a:custGeom>
          <a:blipFill>
            <a:blip r:embed="rId9"/>
            <a:stretch>
              <a:fillRect l="0" t="0" r="0" b="0"/>
            </a:stretch>
          </a:blipFill>
        </p:spPr>
      </p:sp>
      <p:sp>
        <p:nvSpPr>
          <p:cNvPr name="TextBox 8" id="8"/>
          <p:cNvSpPr txBox="true"/>
          <p:nvPr/>
        </p:nvSpPr>
        <p:spPr>
          <a:xfrm rot="0">
            <a:off x="1685985" y="1104900"/>
            <a:ext cx="7655984" cy="987766"/>
          </a:xfrm>
          <a:prstGeom prst="rect">
            <a:avLst/>
          </a:prstGeom>
        </p:spPr>
        <p:txBody>
          <a:bodyPr anchor="t" rtlCol="false" tIns="0" lIns="0" bIns="0" rIns="0">
            <a:spAutoFit/>
          </a:bodyPr>
          <a:lstStyle/>
          <a:p>
            <a:pPr algn="l">
              <a:lnSpc>
                <a:spcPts val="6998"/>
              </a:lnSpc>
            </a:pPr>
            <a:r>
              <a:rPr lang="en-US" sz="6998" spc="-139" b="true">
                <a:solidFill>
                  <a:srgbClr val="F8F8F8"/>
                </a:solidFill>
                <a:latin typeface="Poppins Bold"/>
                <a:ea typeface="Poppins Bold"/>
                <a:cs typeface="Poppins Bold"/>
                <a:sym typeface="Poppins Bold"/>
              </a:rPr>
              <a:t>Tecnologías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647717">
            <a:off x="13859813" y="-1923715"/>
            <a:ext cx="6798973" cy="7642874"/>
          </a:xfrm>
          <a:custGeom>
            <a:avLst/>
            <a:gdLst/>
            <a:ahLst/>
            <a:cxnLst/>
            <a:rect r="r" b="b" t="t" l="l"/>
            <a:pathLst>
              <a:path h="7642874" w="6798973">
                <a:moveTo>
                  <a:pt x="0" y="0"/>
                </a:moveTo>
                <a:lnTo>
                  <a:pt x="6798974" y="0"/>
                </a:lnTo>
                <a:lnTo>
                  <a:pt x="6798974" y="7642874"/>
                </a:lnTo>
                <a:lnTo>
                  <a:pt x="0" y="7642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503" y="3483236"/>
            <a:ext cx="17747310" cy="5775064"/>
          </a:xfrm>
          <a:custGeom>
            <a:avLst/>
            <a:gdLst/>
            <a:ahLst/>
            <a:cxnLst/>
            <a:rect r="r" b="b" t="t" l="l"/>
            <a:pathLst>
              <a:path h="5775064" w="17747310">
                <a:moveTo>
                  <a:pt x="0" y="0"/>
                </a:moveTo>
                <a:lnTo>
                  <a:pt x="17747310" y="0"/>
                </a:lnTo>
                <a:lnTo>
                  <a:pt x="17747310" y="5775064"/>
                </a:lnTo>
                <a:lnTo>
                  <a:pt x="0" y="5775064"/>
                </a:lnTo>
                <a:lnTo>
                  <a:pt x="0" y="0"/>
                </a:lnTo>
                <a:close/>
              </a:path>
            </a:pathLst>
          </a:custGeom>
          <a:blipFill>
            <a:blip r:embed="rId4"/>
            <a:stretch>
              <a:fillRect l="0" t="0" r="0" b="-259"/>
            </a:stretch>
          </a:blipFill>
        </p:spPr>
      </p:sp>
      <p:sp>
        <p:nvSpPr>
          <p:cNvPr name="TextBox 4" id="4"/>
          <p:cNvSpPr txBox="true"/>
          <p:nvPr/>
        </p:nvSpPr>
        <p:spPr>
          <a:xfrm rot="0">
            <a:off x="5364584" y="1028725"/>
            <a:ext cx="7558832" cy="1566544"/>
          </a:xfrm>
          <a:prstGeom prst="rect">
            <a:avLst/>
          </a:prstGeom>
        </p:spPr>
        <p:txBody>
          <a:bodyPr anchor="t" rtlCol="false" tIns="0" lIns="0" bIns="0" rIns="0">
            <a:spAutoFit/>
          </a:bodyPr>
          <a:lstStyle/>
          <a:p>
            <a:pPr algn="ctr">
              <a:lnSpc>
                <a:spcPts val="12880"/>
              </a:lnSpc>
            </a:pPr>
            <a:r>
              <a:rPr lang="en-US" sz="9200" b="true">
                <a:solidFill>
                  <a:srgbClr val="FDFDFD"/>
                </a:solidFill>
                <a:latin typeface="Open Sans Bold"/>
                <a:ea typeface="Open Sans Bold"/>
                <a:cs typeface="Open Sans Bold"/>
                <a:sym typeface="Open Sans Bold"/>
              </a:rPr>
              <a:t>Casos de Uso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DAHSS-Hw2Bk</dc:identifier>
  <dcterms:modified xsi:type="dcterms:W3CDTF">2011-08-01T06:04:30Z</dcterms:modified>
  <cp:revision>1</cp:revision>
  <dc:title>Integrantes: Matias Maldonado Jeremias Alfaro</dc:title>
</cp:coreProperties>
</file>